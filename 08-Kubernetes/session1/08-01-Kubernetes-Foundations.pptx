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60" r:id="rId5"/>
    <p:sldId id="261" r:id="rId6"/>
    <p:sldId id="274" r:id="rId7"/>
    <p:sldId id="262" r:id="rId8"/>
    <p:sldId id="263" r:id="rId9"/>
    <p:sldId id="264" r:id="rId10"/>
    <p:sldId id="266" r:id="rId11"/>
    <p:sldId id="267" r:id="rId12"/>
    <p:sldId id="268" r:id="rId13"/>
    <p:sldId id="269" r:id="rId14"/>
    <p:sldId id="270" r:id="rId15"/>
    <p:sldId id="271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53404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0A150D-5A91-1AC9-DAF4-C87AE556DC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4C4F9B-84A2-869F-143C-6BC1E4F7A6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A33925-DA34-AC21-ACD0-DD66508EA2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DEA02E-E148-5925-9DFF-EF30DE11C0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97174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3.png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5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749040" y="548640"/>
            <a:ext cx="1645920" cy="1645920"/>
          </a:xfrm>
          <a:prstGeom prst="ellipse">
            <a:avLst/>
          </a:prstGeom>
          <a:solidFill>
            <a:srgbClr val="326CE5">
              <a:alpha val="15000"/>
            </a:srgbClr>
          </a:solidFill>
          <a:ln w="38100">
            <a:solidFill>
              <a:srgbClr val="326CE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868680"/>
            <a:ext cx="822960" cy="822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2468880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Kubernetes Foundations</a:t>
            </a:r>
            <a:endParaRPr lang="en-US" sz="40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Container Orchestration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1371600" y="411480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 the fundamentals of container orchestration at scale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 Objectives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8046720" cy="438912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685800" y="1106424"/>
            <a:ext cx="329184" cy="329184"/>
          </a:xfrm>
          <a:prstGeom prst="ellipse">
            <a:avLst/>
          </a:prstGeom>
          <a:solidFill>
            <a:srgbClr val="00D4AA">
              <a:alpha val="20000"/>
            </a:srgbClr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1143000"/>
            <a:ext cx="219456" cy="219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88720" y="1051560"/>
            <a:ext cx="7223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 why Kubernetes exists and what problems it solves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1581912"/>
            <a:ext cx="8046720" cy="438912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Shape 5"/>
          <p:cNvSpPr/>
          <p:nvPr/>
        </p:nvSpPr>
        <p:spPr>
          <a:xfrm>
            <a:off x="685800" y="1636776"/>
            <a:ext cx="329184" cy="329184"/>
          </a:xfrm>
          <a:prstGeom prst="ellipse">
            <a:avLst/>
          </a:prstGeom>
          <a:solidFill>
            <a:srgbClr val="00D4AA">
              <a:alpha val="20000"/>
            </a:srgbClr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" y="1673352"/>
            <a:ext cx="219456" cy="21945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88720" y="1581912"/>
            <a:ext cx="7223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 Kubernetes architecture - Control Plane &amp; Worker Nodes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2112264"/>
            <a:ext cx="8046720" cy="438912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2" name="Shape 8"/>
          <p:cNvSpPr/>
          <p:nvPr/>
        </p:nvSpPr>
        <p:spPr>
          <a:xfrm>
            <a:off x="685800" y="2167128"/>
            <a:ext cx="329184" cy="329184"/>
          </a:xfrm>
          <a:prstGeom prst="ellipse">
            <a:avLst/>
          </a:prstGeom>
          <a:solidFill>
            <a:srgbClr val="00D4AA">
              <a:alpha val="20000"/>
            </a:srgbClr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0664" y="2203704"/>
            <a:ext cx="219456" cy="21945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188720" y="2112264"/>
            <a:ext cx="7223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 Pods, the smallest deployable unit in Kubernetes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548640" y="2642616"/>
            <a:ext cx="8046720" cy="438912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6" name="Shape 11"/>
          <p:cNvSpPr/>
          <p:nvPr/>
        </p:nvSpPr>
        <p:spPr>
          <a:xfrm>
            <a:off x="685800" y="2697480"/>
            <a:ext cx="329184" cy="329184"/>
          </a:xfrm>
          <a:prstGeom prst="ellipse">
            <a:avLst/>
          </a:prstGeom>
          <a:solidFill>
            <a:srgbClr val="00D4AA">
              <a:alpha val="20000"/>
            </a:srgbClr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664" y="2734056"/>
            <a:ext cx="219456" cy="21945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188720" y="2642616"/>
            <a:ext cx="7223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Explore microservices and service discovery concepts</a:t>
            </a:r>
            <a:endParaRPr lang="en-US" sz="1400" dirty="0"/>
          </a:p>
        </p:txBody>
      </p:sp>
      <p:sp>
        <p:nvSpPr>
          <p:cNvPr id="19" name="Shape 13"/>
          <p:cNvSpPr/>
          <p:nvPr/>
        </p:nvSpPr>
        <p:spPr>
          <a:xfrm>
            <a:off x="548640" y="3172968"/>
            <a:ext cx="8046720" cy="438912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0" name="Shape 14"/>
          <p:cNvSpPr/>
          <p:nvPr/>
        </p:nvSpPr>
        <p:spPr>
          <a:xfrm>
            <a:off x="685800" y="3227832"/>
            <a:ext cx="329184" cy="329184"/>
          </a:xfrm>
          <a:prstGeom prst="ellipse">
            <a:avLst/>
          </a:prstGeom>
          <a:solidFill>
            <a:srgbClr val="00D4AA">
              <a:alpha val="20000"/>
            </a:srgbClr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0664" y="3264408"/>
            <a:ext cx="219456" cy="219456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188720" y="3172968"/>
            <a:ext cx="7223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 essential kubectl commands for cluster interaction</a:t>
            </a:r>
            <a:endParaRPr lang="en-US" sz="1400" dirty="0"/>
          </a:p>
        </p:txBody>
      </p:sp>
      <p:sp>
        <p:nvSpPr>
          <p:cNvPr id="23" name="Shape 16"/>
          <p:cNvSpPr/>
          <p:nvPr/>
        </p:nvSpPr>
        <p:spPr>
          <a:xfrm>
            <a:off x="548640" y="3703320"/>
            <a:ext cx="8046720" cy="438912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4" name="Shape 17"/>
          <p:cNvSpPr/>
          <p:nvPr/>
        </p:nvSpPr>
        <p:spPr>
          <a:xfrm>
            <a:off x="685800" y="3758184"/>
            <a:ext cx="329184" cy="329184"/>
          </a:xfrm>
          <a:prstGeom prst="ellipse">
            <a:avLst/>
          </a:prstGeom>
          <a:solidFill>
            <a:srgbClr val="00D4AA">
              <a:alpha val="20000"/>
            </a:srgbClr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0664" y="3794760"/>
            <a:ext cx="219456" cy="219456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1188720" y="3703320"/>
            <a:ext cx="7223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 YAML manifest structure and kubeconfig</a:t>
            </a:r>
            <a:endParaRPr lang="en-US" sz="1400" dirty="0"/>
          </a:p>
        </p:txBody>
      </p:sp>
      <p:sp>
        <p:nvSpPr>
          <p:cNvPr id="27" name="Shape 19"/>
          <p:cNvSpPr/>
          <p:nvPr/>
        </p:nvSpPr>
        <p:spPr>
          <a:xfrm>
            <a:off x="548640" y="4233672"/>
            <a:ext cx="8046720" cy="438912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8" name="Shape 20"/>
          <p:cNvSpPr/>
          <p:nvPr/>
        </p:nvSpPr>
        <p:spPr>
          <a:xfrm>
            <a:off x="685800" y="4288536"/>
            <a:ext cx="329184" cy="329184"/>
          </a:xfrm>
          <a:prstGeom prst="ellipse">
            <a:avLst/>
          </a:prstGeom>
          <a:solidFill>
            <a:srgbClr val="00D4AA">
              <a:alpha val="20000"/>
            </a:srgbClr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9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0664" y="4325112"/>
            <a:ext cx="219456" cy="219456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1188720" y="4233672"/>
            <a:ext cx="7223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your first application on Minikube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Challenge We’re Solving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371600" y="1005840"/>
            <a:ext cx="6400800" cy="502920"/>
          </a:xfrm>
          <a:prstGeom prst="rect">
            <a:avLst/>
          </a:prstGeom>
          <a:solidFill>
            <a:srgbClr val="326C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1371600" y="100584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“We have 50 containers running... and everything is on fire.”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0" cy="2926080"/>
          </a:xfrm>
          <a:prstGeom prst="rect">
            <a:avLst/>
          </a:prstGeom>
          <a:solidFill>
            <a:srgbClr val="FFE8E8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C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Orchestration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2240280"/>
            <a:ext cx="33832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container start/stop on each server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auto-restart when containers crash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scaling - guess how many to run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load balancing between instances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 = SSH + pray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health monitoring or self-healing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54880" y="1737360"/>
            <a:ext cx="4069080" cy="2926080"/>
          </a:xfrm>
          <a:prstGeom prst="rect">
            <a:avLst/>
          </a:prstGeom>
          <a:solidFill>
            <a:srgbClr val="E8F8F0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4754880" y="178308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28B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Kubernetes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29200" y="224028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Declarative: define desired state, K8s enforces it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Auto-restarts crashed containers instantly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Horizontal auto-scaling based on CPU/memory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Built-in load balancing and service discovery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Rolling updates with zero downtime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Self-healing: detects and replaces failures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Kubernetes?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731520" cy="731520"/>
          </a:xfrm>
          <a:prstGeom prst="ellipse">
            <a:avLst/>
          </a:prstGeom>
          <a:solidFill>
            <a:srgbClr val="00D4AA">
              <a:alpha val="20000"/>
            </a:srgbClr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170432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63040" y="1051560"/>
            <a:ext cx="7132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open-source container orchestration platform that automates deployment, scaling, and management of containerized applications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57200" y="2103120"/>
            <a:ext cx="269748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Shape 4"/>
          <p:cNvSpPr/>
          <p:nvPr/>
        </p:nvSpPr>
        <p:spPr>
          <a:xfrm>
            <a:off x="1417320" y="2286000"/>
            <a:ext cx="640080" cy="640080"/>
          </a:xfrm>
          <a:prstGeom prst="ellipse">
            <a:avLst/>
          </a:prstGeom>
          <a:solidFill>
            <a:srgbClr val="00D4AA">
              <a:alpha val="20000"/>
            </a:srgbClr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8760" y="2377440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3017520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26C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Self-Healing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640080" y="3337560"/>
            <a:ext cx="2331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Automatically restarts failed containers, replaces unhealthy ones, kills unresponsive pods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3337560" y="2103120"/>
            <a:ext cx="269748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2" name="Shape 8"/>
          <p:cNvSpPr/>
          <p:nvPr/>
        </p:nvSpPr>
        <p:spPr>
          <a:xfrm>
            <a:off x="4297680" y="2286000"/>
            <a:ext cx="640080" cy="640080"/>
          </a:xfrm>
          <a:prstGeom prst="ellipse">
            <a:avLst/>
          </a:prstGeom>
          <a:solidFill>
            <a:srgbClr val="00D4AA">
              <a:alpha val="20000"/>
            </a:srgbClr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20" y="2377440"/>
            <a:ext cx="457200" cy="4572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474720" y="3017520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26C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Auto-Scaling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3520440" y="3337560"/>
            <a:ext cx="2331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Scales pods horizontally based on CPU, memory, or custom metrics. Scales nodes via cloud ASGs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217920" y="2103120"/>
            <a:ext cx="269748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7" name="Shape 12"/>
          <p:cNvSpPr/>
          <p:nvPr/>
        </p:nvSpPr>
        <p:spPr>
          <a:xfrm>
            <a:off x="7178040" y="2286000"/>
            <a:ext cx="640080" cy="640080"/>
          </a:xfrm>
          <a:prstGeom prst="ellipse">
            <a:avLst/>
          </a:prstGeom>
          <a:solidFill>
            <a:srgbClr val="00D4AA">
              <a:alpha val="20000"/>
            </a:srgbClr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69480" y="2377440"/>
            <a:ext cx="457200" cy="45720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355080" y="3017520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26C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Discovery</a:t>
            </a:r>
            <a:endParaRPr lang="en-US" sz="1500" dirty="0"/>
          </a:p>
        </p:txBody>
      </p:sp>
      <p:sp>
        <p:nvSpPr>
          <p:cNvPr id="20" name="Text 14"/>
          <p:cNvSpPr/>
          <p:nvPr/>
        </p:nvSpPr>
        <p:spPr>
          <a:xfrm>
            <a:off x="6400800" y="3337560"/>
            <a:ext cx="2331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Built-in DNS (CoreDNS) gives every service a stable name. No hardcoding IPs between microservices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Kubernetes Architecture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3931920" cy="3657600"/>
          </a:xfrm>
          <a:prstGeom prst="rect">
            <a:avLst/>
          </a:prstGeom>
          <a:solidFill>
            <a:srgbClr val="E8EE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3931920" cy="411480"/>
          </a:xfrm>
          <a:prstGeom prst="rect">
            <a:avLst/>
          </a:prstGeom>
          <a:solidFill>
            <a:srgbClr val="326C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Plane (Master)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600200"/>
            <a:ext cx="356616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777240" y="164592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26C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Server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190195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Gateway to the cluster. All communication goes through it.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350008"/>
            <a:ext cx="356616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777240" y="23957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26C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etcd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77240" y="26517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Key-value store. Saves the entire cluster state.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099816"/>
            <a:ext cx="356616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777240" y="314553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26C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77240" y="34015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Assigns pods to worker nodes based on resources.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849624"/>
            <a:ext cx="356616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777240" y="389534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26C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Controller Manager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77240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Ensures desired state matches actual state.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54880" y="1051560"/>
            <a:ext cx="3931920" cy="3657600"/>
          </a:xfrm>
          <a:prstGeom prst="rect">
            <a:avLst/>
          </a:prstGeom>
          <a:solidFill>
            <a:srgbClr val="E8FFF4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4754880" y="1051560"/>
            <a:ext cx="3931920" cy="411480"/>
          </a:xfrm>
          <a:prstGeom prst="rect">
            <a:avLst/>
          </a:prstGeom>
          <a:solidFill>
            <a:srgbClr val="00B07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4754880" y="105156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Worker Nodes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937760" y="1600200"/>
            <a:ext cx="356616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5074920" y="164592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0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kubelet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074920" y="190195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on each node. Communicates with API Server, manages containers.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937760" y="2350008"/>
            <a:ext cx="356616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5074920" y="23957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0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kube-proxy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074920" y="26517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Manages network rules. Routes traffic to the right pods.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937760" y="3099816"/>
            <a:ext cx="356616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8" name="Text 26"/>
          <p:cNvSpPr/>
          <p:nvPr/>
        </p:nvSpPr>
        <p:spPr>
          <a:xfrm>
            <a:off x="5074920" y="314553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0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 Runtime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074920" y="34015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containers (containerd, CRI-O). Pulls images, starts processes.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937760" y="3849624"/>
            <a:ext cx="356616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1" name="Text 29"/>
          <p:cNvSpPr/>
          <p:nvPr/>
        </p:nvSpPr>
        <p:spPr>
          <a:xfrm>
            <a:off x="5074920" y="389534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0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Pods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074920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workloads run here. Smallest deployable unit in K8s.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D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46EAD7-FD11-4876-6B93-89768EB64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CFF0625-A643-6E4A-D26D-0F89A1D0479F}"/>
              </a:ext>
            </a:extLst>
          </p:cNvPr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Kubernetes Architecture</a:t>
            </a:r>
            <a:endParaRPr lang="en-US" sz="3600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CBCC12F0-8E96-AAA8-CAE2-53C0451D72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425" y="1022292"/>
            <a:ext cx="6229195" cy="3918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44776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All Works Together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005840" y="1463040"/>
            <a:ext cx="0" cy="182880"/>
          </a:xfrm>
          <a:prstGeom prst="line">
            <a:avLst/>
          </a:prstGeom>
          <a:noFill/>
          <a:ln w="25400">
            <a:solidFill>
              <a:srgbClr val="326CE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640080" y="1051560"/>
            <a:ext cx="365760" cy="365760"/>
          </a:xfrm>
          <a:prstGeom prst="ellipse">
            <a:avLst/>
          </a:prstGeom>
          <a:solidFill>
            <a:srgbClr val="326C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640080" y="1051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1078992"/>
            <a:ext cx="310896" cy="31089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645920" y="1005840"/>
            <a:ext cx="685800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Text 5"/>
          <p:cNvSpPr/>
          <p:nvPr/>
        </p:nvSpPr>
        <p:spPr>
          <a:xfrm>
            <a:off x="1783080" y="100584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runs: kubectl apply -f deployment.yaml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1005840" y="2103120"/>
            <a:ext cx="0" cy="182880"/>
          </a:xfrm>
          <a:prstGeom prst="line">
            <a:avLst/>
          </a:prstGeom>
          <a:noFill/>
          <a:ln w="25400">
            <a:solidFill>
              <a:srgbClr val="326CE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7"/>
          <p:cNvSpPr/>
          <p:nvPr/>
        </p:nvSpPr>
        <p:spPr>
          <a:xfrm>
            <a:off x="640080" y="1691640"/>
            <a:ext cx="365760" cy="365760"/>
          </a:xfrm>
          <a:prstGeom prst="ellipse">
            <a:avLst/>
          </a:prstGeom>
          <a:solidFill>
            <a:srgbClr val="326C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 8"/>
          <p:cNvSpPr/>
          <p:nvPr/>
        </p:nvSpPr>
        <p:spPr>
          <a:xfrm>
            <a:off x="640080" y="16916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8720" y="1719072"/>
            <a:ext cx="310896" cy="310896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1645920" y="1645920"/>
            <a:ext cx="685800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Text 10"/>
          <p:cNvSpPr/>
          <p:nvPr/>
        </p:nvSpPr>
        <p:spPr>
          <a:xfrm>
            <a:off x="1783080" y="16459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Server validates the request and stores desired state in etcd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1005840" y="2743200"/>
            <a:ext cx="0" cy="182880"/>
          </a:xfrm>
          <a:prstGeom prst="line">
            <a:avLst/>
          </a:prstGeom>
          <a:noFill/>
          <a:ln w="25400">
            <a:solidFill>
              <a:srgbClr val="326CE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Shape 12"/>
          <p:cNvSpPr/>
          <p:nvPr/>
        </p:nvSpPr>
        <p:spPr>
          <a:xfrm>
            <a:off x="640080" y="2331720"/>
            <a:ext cx="365760" cy="365760"/>
          </a:xfrm>
          <a:prstGeom prst="ellipse">
            <a:avLst/>
          </a:prstGeom>
          <a:solidFill>
            <a:srgbClr val="326C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Text 13"/>
          <p:cNvSpPr/>
          <p:nvPr/>
        </p:nvSpPr>
        <p:spPr>
          <a:xfrm>
            <a:off x="640080" y="2331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8720" y="2359152"/>
            <a:ext cx="310896" cy="310896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1645920" y="2286000"/>
            <a:ext cx="685800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0" name="Text 15"/>
          <p:cNvSpPr/>
          <p:nvPr/>
        </p:nvSpPr>
        <p:spPr>
          <a:xfrm>
            <a:off x="1783080" y="228600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Scheduler finds the best worker node with available resources</a:t>
            </a:r>
            <a:endParaRPr lang="en-US" sz="1350" dirty="0"/>
          </a:p>
        </p:txBody>
      </p:sp>
      <p:sp>
        <p:nvSpPr>
          <p:cNvPr id="21" name="Shape 16"/>
          <p:cNvSpPr/>
          <p:nvPr/>
        </p:nvSpPr>
        <p:spPr>
          <a:xfrm>
            <a:off x="1005840" y="3383280"/>
            <a:ext cx="0" cy="182880"/>
          </a:xfrm>
          <a:prstGeom prst="line">
            <a:avLst/>
          </a:prstGeom>
          <a:noFill/>
          <a:ln w="25400">
            <a:solidFill>
              <a:srgbClr val="326CE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Shape 17"/>
          <p:cNvSpPr/>
          <p:nvPr/>
        </p:nvSpPr>
        <p:spPr>
          <a:xfrm>
            <a:off x="640080" y="2971800"/>
            <a:ext cx="365760" cy="365760"/>
          </a:xfrm>
          <a:prstGeom prst="ellipse">
            <a:avLst/>
          </a:prstGeom>
          <a:solidFill>
            <a:srgbClr val="326C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Text 18"/>
          <p:cNvSpPr/>
          <p:nvPr/>
        </p:nvSpPr>
        <p:spPr>
          <a:xfrm>
            <a:off x="640080" y="29718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8720" y="2999232"/>
            <a:ext cx="310896" cy="310896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1645920" y="2926080"/>
            <a:ext cx="685800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6" name="Text 20"/>
          <p:cNvSpPr/>
          <p:nvPr/>
        </p:nvSpPr>
        <p:spPr>
          <a:xfrm>
            <a:off x="1783080" y="292608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kubelet on that node pulls the image and starts the container</a:t>
            </a:r>
            <a:endParaRPr lang="en-US" sz="1350" dirty="0"/>
          </a:p>
        </p:txBody>
      </p:sp>
      <p:sp>
        <p:nvSpPr>
          <p:cNvPr id="27" name="Shape 21"/>
          <p:cNvSpPr/>
          <p:nvPr/>
        </p:nvSpPr>
        <p:spPr>
          <a:xfrm>
            <a:off x="1005840" y="4023360"/>
            <a:ext cx="0" cy="182880"/>
          </a:xfrm>
          <a:prstGeom prst="line">
            <a:avLst/>
          </a:prstGeom>
          <a:noFill/>
          <a:ln w="25400">
            <a:solidFill>
              <a:srgbClr val="326CE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Shape 22"/>
          <p:cNvSpPr/>
          <p:nvPr/>
        </p:nvSpPr>
        <p:spPr>
          <a:xfrm>
            <a:off x="640080" y="3611880"/>
            <a:ext cx="365760" cy="365760"/>
          </a:xfrm>
          <a:prstGeom prst="ellipse">
            <a:avLst/>
          </a:prstGeom>
          <a:solidFill>
            <a:srgbClr val="326C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Text 23"/>
          <p:cNvSpPr/>
          <p:nvPr/>
        </p:nvSpPr>
        <p:spPr>
          <a:xfrm>
            <a:off x="640080" y="36118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8720" y="3639312"/>
            <a:ext cx="310896" cy="310896"/>
          </a:xfrm>
          <a:prstGeom prst="rect">
            <a:avLst/>
          </a:prstGeom>
        </p:spPr>
      </p:pic>
      <p:sp>
        <p:nvSpPr>
          <p:cNvPr id="31" name="Shape 24"/>
          <p:cNvSpPr/>
          <p:nvPr/>
        </p:nvSpPr>
        <p:spPr>
          <a:xfrm>
            <a:off x="1645920" y="3566160"/>
            <a:ext cx="685800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2" name="Text 25"/>
          <p:cNvSpPr/>
          <p:nvPr/>
        </p:nvSpPr>
        <p:spPr>
          <a:xfrm>
            <a:off x="1783080" y="35661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kube-proxy sets up networking so traffic can reach the pod</a:t>
            </a:r>
            <a:endParaRPr lang="en-US" sz="1350" dirty="0"/>
          </a:p>
        </p:txBody>
      </p:sp>
      <p:sp>
        <p:nvSpPr>
          <p:cNvPr id="33" name="Shape 26"/>
          <p:cNvSpPr/>
          <p:nvPr/>
        </p:nvSpPr>
        <p:spPr>
          <a:xfrm>
            <a:off x="640080" y="4251960"/>
            <a:ext cx="365760" cy="365760"/>
          </a:xfrm>
          <a:prstGeom prst="ellipse">
            <a:avLst/>
          </a:prstGeom>
          <a:solidFill>
            <a:srgbClr val="326C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Text 27"/>
          <p:cNvSpPr/>
          <p:nvPr/>
        </p:nvSpPr>
        <p:spPr>
          <a:xfrm>
            <a:off x="640080" y="42519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pic>
        <p:nvPicPr>
          <p:cNvPr id="3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88720" y="4279392"/>
            <a:ext cx="310896" cy="310896"/>
          </a:xfrm>
          <a:prstGeom prst="rect">
            <a:avLst/>
          </a:prstGeom>
        </p:spPr>
      </p:pic>
      <p:sp>
        <p:nvSpPr>
          <p:cNvPr id="36" name="Shape 28"/>
          <p:cNvSpPr/>
          <p:nvPr/>
        </p:nvSpPr>
        <p:spPr>
          <a:xfrm>
            <a:off x="1645920" y="4206240"/>
            <a:ext cx="685800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7" name="Text 29"/>
          <p:cNvSpPr/>
          <p:nvPr/>
        </p:nvSpPr>
        <p:spPr>
          <a:xfrm>
            <a:off x="1783080" y="420624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Controller Manager watches and ensures desired state is maintained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Pods: The Smallest Deployable Unit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005840"/>
            <a:ext cx="640080" cy="640080"/>
          </a:xfrm>
          <a:prstGeom prst="ellipse">
            <a:avLst/>
          </a:prstGeom>
          <a:solidFill>
            <a:srgbClr val="00D4AA">
              <a:alpha val="20000"/>
            </a:srgbClr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115568"/>
            <a:ext cx="420624" cy="4206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71600" y="100584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Pod wraps one or more containers that share the same network namespace and storage. Containers in a pod communicate via localhost.</a:t>
            </a:r>
            <a:endParaRPr lang="en-US" sz="1450" dirty="0"/>
          </a:p>
        </p:txBody>
      </p:sp>
      <p:sp>
        <p:nvSpPr>
          <p:cNvPr id="6" name="Shape 3"/>
          <p:cNvSpPr/>
          <p:nvPr/>
        </p:nvSpPr>
        <p:spPr>
          <a:xfrm>
            <a:off x="457200" y="1920240"/>
            <a:ext cx="3931920" cy="27432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" name="Shape 4"/>
          <p:cNvSpPr/>
          <p:nvPr/>
        </p:nvSpPr>
        <p:spPr>
          <a:xfrm>
            <a:off x="457200" y="1920240"/>
            <a:ext cx="3931920" cy="365760"/>
          </a:xfrm>
          <a:prstGeom prst="rect">
            <a:avLst/>
          </a:prstGeom>
          <a:solidFill>
            <a:srgbClr val="326C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5"/>
          <p:cNvSpPr/>
          <p:nvPr/>
        </p:nvSpPr>
        <p:spPr>
          <a:xfrm>
            <a:off x="457200" y="19202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Single-Container Pod (Most Common)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40080" y="2423160"/>
            <a:ext cx="35661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main application container per pod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common pattern in production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Managed by Deployments for scaling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nginx pod, Flask API pod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754880" y="1920240"/>
            <a:ext cx="3931920" cy="27432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Shape 8"/>
          <p:cNvSpPr/>
          <p:nvPr/>
        </p:nvSpPr>
        <p:spPr>
          <a:xfrm>
            <a:off x="4754880" y="1920240"/>
            <a:ext cx="3931920" cy="365760"/>
          </a:xfrm>
          <a:prstGeom prst="rect">
            <a:avLst/>
          </a:prstGeom>
          <a:solidFill>
            <a:srgbClr val="00B07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9"/>
          <p:cNvSpPr/>
          <p:nvPr/>
        </p:nvSpPr>
        <p:spPr>
          <a:xfrm>
            <a:off x="4754880" y="192024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Multi-Container Pod (Sidecar Pattern)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37760" y="2423160"/>
            <a:ext cx="35661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app + supporting containers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network (localhost) and storage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Sidecar examples:</a:t>
            </a:r>
            <a:endParaRPr lang="en-US" sz="1300" dirty="0"/>
          </a:p>
          <a:p>
            <a:pPr marL="0" lvl="1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Log collector (Fluentd)</a:t>
            </a:r>
            <a:endParaRPr lang="en-US" sz="1300" dirty="0"/>
          </a:p>
          <a:p>
            <a:pPr marL="0" lvl="1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Metrics exporter (Prometheus)</a:t>
            </a:r>
            <a:endParaRPr lang="en-US" sz="1300" dirty="0"/>
          </a:p>
          <a:p>
            <a:pPr marL="0" lvl="1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Redis cache sidecar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Microservices &amp; Service Discovery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8B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microservices architecture, services need to find and talk to each other reliably - without hardcoding IPs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74320" y="1463040"/>
            <a:ext cx="1828800" cy="548640"/>
          </a:xfrm>
          <a:prstGeom prst="rect">
            <a:avLst/>
          </a:prstGeom>
          <a:solidFill>
            <a:srgbClr val="326C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274320" y="14630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103120" y="1737360"/>
            <a:ext cx="457200" cy="0"/>
          </a:xfrm>
          <a:prstGeom prst="line">
            <a:avLst/>
          </a:prstGeom>
          <a:noFill/>
          <a:ln w="25400">
            <a:solidFill>
              <a:srgbClr val="3A466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2286000" y="1463040"/>
            <a:ext cx="1828800" cy="548640"/>
          </a:xfrm>
          <a:prstGeom prst="rect">
            <a:avLst/>
          </a:prstGeom>
          <a:solidFill>
            <a:srgbClr val="FF8C0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2286000" y="14630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114800" y="1737360"/>
            <a:ext cx="457200" cy="0"/>
          </a:xfrm>
          <a:prstGeom prst="line">
            <a:avLst/>
          </a:prstGeom>
          <a:noFill/>
          <a:ln w="25400">
            <a:solidFill>
              <a:srgbClr val="3A466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4297680" y="1463040"/>
            <a:ext cx="1828800" cy="548640"/>
          </a:xfrm>
          <a:prstGeom prst="rect">
            <a:avLst/>
          </a:prstGeom>
          <a:solidFill>
            <a:srgbClr val="00B07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4297680" y="14630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126480" y="1737360"/>
            <a:ext cx="457200" cy="0"/>
          </a:xfrm>
          <a:prstGeom prst="line">
            <a:avLst/>
          </a:prstGeom>
          <a:noFill/>
          <a:ln w="25400">
            <a:solidFill>
              <a:srgbClr val="3A466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6309360" y="1463040"/>
            <a:ext cx="1828800" cy="548640"/>
          </a:xfrm>
          <a:prstGeom prst="rect">
            <a:avLst/>
          </a:prstGeom>
          <a:solidFill>
            <a:srgbClr val="9B59B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6309360" y="14630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Notification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2377440"/>
            <a:ext cx="8229600" cy="457200"/>
          </a:xfrm>
          <a:prstGeom prst="rect">
            <a:avLst/>
          </a:prstGeom>
          <a:solidFill>
            <a:srgbClr val="2D345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57200" y="23774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CoreDNS + Kubernetes Services = Reliable service discovery. No hardcoded IPs needed.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Real-World Microservice Examples: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3429000"/>
            <a:ext cx="1463040" cy="365760"/>
          </a:xfrm>
          <a:prstGeom prst="rect">
            <a:avLst/>
          </a:prstGeom>
          <a:solidFill>
            <a:srgbClr val="326C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548640" y="342900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E-commerce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194560" y="34290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Service  →  Cart  →  Payment  →  Notification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3904488"/>
            <a:ext cx="1463040" cy="365760"/>
          </a:xfrm>
          <a:prstGeom prst="rect">
            <a:avLst/>
          </a:prstGeom>
          <a:solidFill>
            <a:srgbClr val="326C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548640" y="3904488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Streaming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194560" y="3904488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Profile  →  Recommendation  →  Streaming  →  Billing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379976"/>
            <a:ext cx="1463040" cy="365760"/>
          </a:xfrm>
          <a:prstGeom prst="rect">
            <a:avLst/>
          </a:prstGeom>
          <a:solidFill>
            <a:srgbClr val="326C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548640" y="4379976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Banking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194560" y="4379976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  →  Transaction  →  Fraud Detection  →  Notification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Kubernetes YAML Structure</a:t>
            </a:r>
            <a:endParaRPr lang="en-US" sz="3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960120"/>
            <a:ext cx="411480" cy="411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96012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Kubernetes manifest follows the A-K-M-S pattern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02920" cy="640080"/>
          </a:xfrm>
          <a:prstGeom prst="rect">
            <a:avLst/>
          </a:prstGeom>
          <a:solidFill>
            <a:srgbClr val="326C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3"/>
          <p:cNvSpPr/>
          <p:nvPr/>
        </p:nvSpPr>
        <p:spPr>
          <a:xfrm>
            <a:off x="548640" y="1554480"/>
            <a:ext cx="502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1188720" y="1554480"/>
            <a:ext cx="740664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Text 5"/>
          <p:cNvSpPr/>
          <p:nvPr/>
        </p:nvSpPr>
        <p:spPr>
          <a:xfrm>
            <a:off x="1371600" y="1600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26C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apiVersion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3200400" y="1600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K8s API version to use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371600" y="1901952"/>
            <a:ext cx="7040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8B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v1, apps/v1, networking.k8s.io/v1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48640" y="2331720"/>
            <a:ext cx="502920" cy="640080"/>
          </a:xfrm>
          <a:prstGeom prst="rect">
            <a:avLst/>
          </a:prstGeom>
          <a:solidFill>
            <a:srgbClr val="326C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9"/>
          <p:cNvSpPr/>
          <p:nvPr/>
        </p:nvSpPr>
        <p:spPr>
          <a:xfrm>
            <a:off x="548640" y="2331720"/>
            <a:ext cx="502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endParaRPr lang="en-US" sz="2400" dirty="0"/>
          </a:p>
        </p:txBody>
      </p:sp>
      <p:sp>
        <p:nvSpPr>
          <p:cNvPr id="13" name="Shape 10"/>
          <p:cNvSpPr/>
          <p:nvPr/>
        </p:nvSpPr>
        <p:spPr>
          <a:xfrm>
            <a:off x="1188720" y="2331720"/>
            <a:ext cx="740664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Text 11"/>
          <p:cNvSpPr/>
          <p:nvPr/>
        </p:nvSpPr>
        <p:spPr>
          <a:xfrm>
            <a:off x="1371600" y="2377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26C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kind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200400" y="2377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type of resource to create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371600" y="2679192"/>
            <a:ext cx="7040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8B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Pod, Deployment, Service, ConfigMap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48640" y="3108960"/>
            <a:ext cx="502920" cy="640080"/>
          </a:xfrm>
          <a:prstGeom prst="rect">
            <a:avLst/>
          </a:prstGeom>
          <a:solidFill>
            <a:srgbClr val="326C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5"/>
          <p:cNvSpPr/>
          <p:nvPr/>
        </p:nvSpPr>
        <p:spPr>
          <a:xfrm>
            <a:off x="548640" y="3108960"/>
            <a:ext cx="502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1188720" y="3108960"/>
            <a:ext cx="740664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0" name="Text 17"/>
          <p:cNvSpPr/>
          <p:nvPr/>
        </p:nvSpPr>
        <p:spPr>
          <a:xfrm>
            <a:off x="1371600" y="31546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26C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metadata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3200400" y="3154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 - name, labels, namespace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371600" y="3456432"/>
            <a:ext cx="7040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8B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name: my-app, labels: {app: web}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48640" y="3886200"/>
            <a:ext cx="502920" cy="640080"/>
          </a:xfrm>
          <a:prstGeom prst="rect">
            <a:avLst/>
          </a:prstGeom>
          <a:solidFill>
            <a:srgbClr val="326C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1"/>
          <p:cNvSpPr/>
          <p:nvPr/>
        </p:nvSpPr>
        <p:spPr>
          <a:xfrm>
            <a:off x="548640" y="3886200"/>
            <a:ext cx="502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2400" dirty="0"/>
          </a:p>
        </p:txBody>
      </p:sp>
      <p:sp>
        <p:nvSpPr>
          <p:cNvPr id="25" name="Shape 22"/>
          <p:cNvSpPr/>
          <p:nvPr/>
        </p:nvSpPr>
        <p:spPr>
          <a:xfrm>
            <a:off x="1188720" y="3886200"/>
            <a:ext cx="7406640" cy="64008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6" name="Text 23"/>
          <p:cNvSpPr/>
          <p:nvPr/>
        </p:nvSpPr>
        <p:spPr>
          <a:xfrm>
            <a:off x="1371600" y="3931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26C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3200400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Desired state - the actual configuration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1371600" y="4233672"/>
            <a:ext cx="7040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8B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containers, replicas, ports, volumes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5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Pod Manifest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7680960" cy="3291840"/>
          </a:xfrm>
          <a:prstGeom prst="rect">
            <a:avLst/>
          </a:prstGeom>
          <a:solidFill>
            <a:srgbClr val="2D345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1097280" y="1234440"/>
            <a:ext cx="6949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apiVersion: v1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kind: Pod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metadata: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name: my-first-pod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labels: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app: hello-k8s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spec: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containers: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name: nginx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image: nginx:latest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ports: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 containerPort: 80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4526280"/>
            <a:ext cx="7680960" cy="365760"/>
          </a:xfrm>
          <a:prstGeom prst="rect">
            <a:avLst/>
          </a:prstGeom>
          <a:solidFill>
            <a:srgbClr val="326C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731520" y="45262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= apiVersion  |  K = kind  |  M = metadata  |  S = spec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Essential kubectl Commands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114800" cy="402336"/>
          </a:xfrm>
          <a:prstGeom prst="rect">
            <a:avLst/>
          </a:prstGeom>
          <a:solidFill>
            <a:srgbClr val="2D345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594360" y="960120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kubectl get pods -A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754880" y="960120"/>
            <a:ext cx="3931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 all pods across all namespaces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4114800" cy="402336"/>
          </a:xfrm>
          <a:prstGeom prst="rect">
            <a:avLst/>
          </a:prstGeom>
          <a:solidFill>
            <a:srgbClr val="2D345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594360" y="1463040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kubectl describe pod &lt;name&gt;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754880" y="1463040"/>
            <a:ext cx="3931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detailed info about a pod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4114800" cy="402336"/>
          </a:xfrm>
          <a:prstGeom prst="rect">
            <a:avLst/>
          </a:prstGeom>
          <a:solidFill>
            <a:srgbClr val="2D345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594360" y="1965960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kubectl apply -f &lt;file&gt;.yaml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754880" y="1965960"/>
            <a:ext cx="3931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or update resource from YAML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468880"/>
            <a:ext cx="4114800" cy="402336"/>
          </a:xfrm>
          <a:prstGeom prst="rect">
            <a:avLst/>
          </a:prstGeom>
          <a:solidFill>
            <a:srgbClr val="2D345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594360" y="2468880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kubectl delete -f &lt;file&gt;.yaml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754880" y="2468880"/>
            <a:ext cx="3931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Delete resource defined in YAML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2971800"/>
            <a:ext cx="4114800" cy="402336"/>
          </a:xfrm>
          <a:prstGeom prst="rect">
            <a:avLst/>
          </a:prstGeom>
          <a:solidFill>
            <a:srgbClr val="2D345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594360" y="2971800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kubectl logs &lt;pod-name&gt;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54880" y="2971800"/>
            <a:ext cx="3931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 container logs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3474720"/>
            <a:ext cx="4114800" cy="402336"/>
          </a:xfrm>
          <a:prstGeom prst="rect">
            <a:avLst/>
          </a:prstGeom>
          <a:solidFill>
            <a:srgbClr val="2D345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594360" y="3474720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kubectl exec -it &lt;pod&gt; -- bash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interactive shell inside a pod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3977640"/>
            <a:ext cx="4114800" cy="402336"/>
          </a:xfrm>
          <a:prstGeom prst="rect">
            <a:avLst/>
          </a:prstGeom>
          <a:solidFill>
            <a:srgbClr val="2D345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20"/>
          <p:cNvSpPr/>
          <p:nvPr/>
        </p:nvSpPr>
        <p:spPr>
          <a:xfrm>
            <a:off x="594360" y="3977640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kubectl get nodes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754880" y="3977640"/>
            <a:ext cx="3931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 all cluster nodes and their status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7200" y="4480560"/>
            <a:ext cx="4114800" cy="402336"/>
          </a:xfrm>
          <a:prstGeom prst="rect">
            <a:avLst/>
          </a:prstGeom>
          <a:solidFill>
            <a:srgbClr val="2D345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594360" y="4480560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kubectl config get-contexts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754880" y="4480560"/>
            <a:ext cx="3931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 all available cluster contexts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Kubeconfig: Cluster Access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8B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kubeconfig file (usually at ~/.kube/config) tells kubectl which cluster to talk to and how to authenticate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8046720" cy="713232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731520" y="1545336"/>
            <a:ext cx="457200" cy="457200"/>
          </a:xfrm>
          <a:prstGeom prst="ellipse">
            <a:avLst/>
          </a:prstGeom>
          <a:solidFill>
            <a:srgbClr val="00D4AA">
              <a:alpha val="20000"/>
            </a:srgbClr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" y="1618488"/>
            <a:ext cx="292608" cy="2926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14630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26C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371600" y="176479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Defines the K8s clusters you can connect to - server address, certificate authority.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48640" y="2258568"/>
            <a:ext cx="8046720" cy="713232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Shape 7"/>
          <p:cNvSpPr/>
          <p:nvPr/>
        </p:nvSpPr>
        <p:spPr>
          <a:xfrm>
            <a:off x="731520" y="2386584"/>
            <a:ext cx="457200" cy="457200"/>
          </a:xfrm>
          <a:prstGeom prst="ellipse">
            <a:avLst/>
          </a:prstGeom>
          <a:solidFill>
            <a:srgbClr val="00D4AA">
              <a:alpha val="20000"/>
            </a:srgbClr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" y="2459736"/>
            <a:ext cx="292608" cy="2926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371600" y="230428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26C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1371600" y="26060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Authentication credentials - certificates, tokens, or AWS IAM for EKS clusters.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3099816"/>
            <a:ext cx="8046720" cy="713232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Shape 11"/>
          <p:cNvSpPr/>
          <p:nvPr/>
        </p:nvSpPr>
        <p:spPr>
          <a:xfrm>
            <a:off x="731520" y="3227832"/>
            <a:ext cx="457200" cy="457200"/>
          </a:xfrm>
          <a:prstGeom prst="ellipse">
            <a:avLst/>
          </a:prstGeom>
          <a:solidFill>
            <a:srgbClr val="00D4AA">
              <a:alpha val="20000"/>
            </a:srgbClr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" y="3300984"/>
            <a:ext cx="292608" cy="2926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371600" y="3145536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26C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Contexts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1371600" y="3447288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Combines a cluster + user + namespace into a named shortcut. Switch with kubectl config use-context.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548640" y="3941064"/>
            <a:ext cx="8046720" cy="713232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0" name="Shape 15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00D4AA">
              <a:alpha val="20000"/>
            </a:srgbClr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3816" y="4142232"/>
            <a:ext cx="292608" cy="29260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371600" y="3986784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26C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current-context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1371600" y="4288536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context is active right now. All kubectl commands run against this context.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548640" y="4663440"/>
            <a:ext cx="8046720" cy="320040"/>
          </a:xfrm>
          <a:prstGeom prst="rect">
            <a:avLst/>
          </a:prstGeom>
          <a:solidFill>
            <a:srgbClr val="2D345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Text 19"/>
          <p:cNvSpPr/>
          <p:nvPr/>
        </p:nvSpPr>
        <p:spPr>
          <a:xfrm>
            <a:off x="548640" y="466344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kubectl config get-contexts    |    kubectl config use-context minikube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Minikube: Your Local K8s Cluster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8B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Minikube runs a single-node Kubernetes cluster locally for learning and development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931920" cy="3337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3931920" cy="384048"/>
          </a:xfrm>
          <a:prstGeom prst="rect">
            <a:avLst/>
          </a:prstGeom>
          <a:solidFill>
            <a:srgbClr val="326C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Minikube?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965960"/>
            <a:ext cx="35661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- no cloud costs for learning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 - starts in under a minute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K8s - same API as production clusters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 - experiment without breaking anything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Cross-platform - Windows, macOS, Linux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54880" y="1417320"/>
            <a:ext cx="3931920" cy="3337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4754880" y="1417320"/>
            <a:ext cx="3931920" cy="384048"/>
          </a:xfrm>
          <a:prstGeom prst="rect">
            <a:avLst/>
          </a:prstGeom>
          <a:solidFill>
            <a:srgbClr val="00B07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4754880" y="141732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Start Commands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937760" y="1965960"/>
            <a:ext cx="2011680" cy="320040"/>
          </a:xfrm>
          <a:prstGeom prst="rect">
            <a:avLst/>
          </a:prstGeom>
          <a:solidFill>
            <a:srgbClr val="2D345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5029200" y="19659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minikube start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040880" y="196596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local cluster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937760" y="2377440"/>
            <a:ext cx="2011680" cy="320040"/>
          </a:xfrm>
          <a:prstGeom prst="rect">
            <a:avLst/>
          </a:prstGeom>
          <a:solidFill>
            <a:srgbClr val="2D345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5029200" y="23774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minikube status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040880" y="237744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cluster health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937760" y="2788920"/>
            <a:ext cx="2011680" cy="320040"/>
          </a:xfrm>
          <a:prstGeom prst="rect">
            <a:avLst/>
          </a:prstGeom>
          <a:solidFill>
            <a:srgbClr val="2D345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5029200" y="27889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minikube ip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040880" y="278892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cluster IP address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937760" y="3200400"/>
            <a:ext cx="2011680" cy="320040"/>
          </a:xfrm>
          <a:prstGeom prst="rect">
            <a:avLst/>
          </a:prstGeom>
          <a:solidFill>
            <a:srgbClr val="2D345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5029200" y="3200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minikube dashboard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040880" y="320040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K8s web UI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937760" y="3611880"/>
            <a:ext cx="2011680" cy="320040"/>
          </a:xfrm>
          <a:prstGeom prst="rect">
            <a:avLst/>
          </a:prstGeom>
          <a:solidFill>
            <a:srgbClr val="2D345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5029200" y="3611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minikube stop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040880" y="361188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cluster (preserves state)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937760" y="4023360"/>
            <a:ext cx="2011680" cy="320040"/>
          </a:xfrm>
          <a:prstGeom prst="rect">
            <a:avLst/>
          </a:prstGeom>
          <a:solidFill>
            <a:srgbClr val="2D345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5029200" y="40233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minikube delete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040880" y="402336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Delete cluster entirely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4F6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914400"/>
            <a:ext cx="1371600" cy="1371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Hands-on Labs</a:t>
            </a:r>
            <a:endParaRPr lang="en-US" sz="4800" dirty="0"/>
          </a:p>
        </p:txBody>
      </p:sp>
      <p:sp>
        <p:nvSpPr>
          <p:cNvPr id="4" name="Text 1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to Practice!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1028</Words>
  <Application>Microsoft Office PowerPoint</Application>
  <PresentationFormat>On-screen Show (16:9)</PresentationFormat>
  <Paragraphs>194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Kubernetes Foundations &amp; Container Orchestration</dc:title>
  <dc:subject>PptxGenJS Presentation</dc:subject>
  <dc:creator>Aryan Mohan</dc:creator>
  <cp:lastModifiedBy>KubeCraft Technologies</cp:lastModifiedBy>
  <cp:revision>5</cp:revision>
  <dcterms:created xsi:type="dcterms:W3CDTF">2026-03-26T18:46:31Z</dcterms:created>
  <dcterms:modified xsi:type="dcterms:W3CDTF">2026-03-27T19:07:09Z</dcterms:modified>
</cp:coreProperties>
</file>