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0" r:id="rId5"/>
    <p:sldId id="261" r:id="rId6"/>
    <p:sldId id="274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-416" y="-6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5340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A150D-5A91-1AC9-DAF4-C87AE556D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4C4F9B-84A2-869F-143C-6BC1E4F7A6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A33925-DA34-AC21-ACD0-DD66508EA2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DEA02E-E148-5925-9DFF-EF30DE11C0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7174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49040" y="548640"/>
            <a:ext cx="1645920" cy="1645920"/>
          </a:xfrm>
          <a:prstGeom prst="ellipse">
            <a:avLst/>
          </a:prstGeom>
          <a:solidFill>
            <a:srgbClr val="326CE5">
              <a:alpha val="15000"/>
            </a:srgbClr>
          </a:solidFill>
          <a:ln w="381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86868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4688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Foundations</a:t>
            </a:r>
            <a:endParaRPr lang="en-US" sz="4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Container Orchestration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371600" y="41148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the fundamentals of container orchestration at scale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04672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85800" y="1106424"/>
            <a:ext cx="329184" cy="329184"/>
          </a:xfrm>
          <a:prstGeom prst="ellipse">
            <a:avLst/>
          </a:prstGeom>
          <a:solidFill>
            <a:srgbClr val="00D4A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1143000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051560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why Kubernetes exists and what problems it solves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581912"/>
            <a:ext cx="804672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685800" y="1636776"/>
            <a:ext cx="329184" cy="329184"/>
          </a:xfrm>
          <a:prstGeom prst="ellipse">
            <a:avLst/>
          </a:prstGeom>
          <a:solidFill>
            <a:srgbClr val="00D4A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167335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1581912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Kubernetes architecture - Control Plane &amp; Worker Nodes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48640" y="2112264"/>
            <a:ext cx="804672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685800" y="2167128"/>
            <a:ext cx="329184" cy="329184"/>
          </a:xfrm>
          <a:prstGeom prst="ellipse">
            <a:avLst/>
          </a:prstGeom>
          <a:solidFill>
            <a:srgbClr val="00D4A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2203704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2112264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Pods, the smallest deployable unit in Kubernetes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48640" y="2642616"/>
            <a:ext cx="804672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685800" y="2697480"/>
            <a:ext cx="329184" cy="329184"/>
          </a:xfrm>
          <a:prstGeom prst="ellipse">
            <a:avLst/>
          </a:prstGeom>
          <a:solidFill>
            <a:srgbClr val="00D4A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" y="2734056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88720" y="2642616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microservices and service discovery concepts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548640" y="3172968"/>
            <a:ext cx="804672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4"/>
          <p:cNvSpPr/>
          <p:nvPr/>
        </p:nvSpPr>
        <p:spPr>
          <a:xfrm>
            <a:off x="685800" y="3227832"/>
            <a:ext cx="329184" cy="329184"/>
          </a:xfrm>
          <a:prstGeom prst="ellipse">
            <a:avLst/>
          </a:prstGeom>
          <a:solidFill>
            <a:srgbClr val="00D4A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" y="3264408"/>
            <a:ext cx="219456" cy="21945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88720" y="3172968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essential kubectl commands for cluster interaction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548640" y="3703320"/>
            <a:ext cx="804672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7"/>
          <p:cNvSpPr/>
          <p:nvPr/>
        </p:nvSpPr>
        <p:spPr>
          <a:xfrm>
            <a:off x="685800" y="3758184"/>
            <a:ext cx="329184" cy="329184"/>
          </a:xfrm>
          <a:prstGeom prst="ellipse">
            <a:avLst/>
          </a:prstGeom>
          <a:solidFill>
            <a:srgbClr val="00D4A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0664" y="3794760"/>
            <a:ext cx="219456" cy="21945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188720" y="3703320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YAML manifest structure and kubeconfig</a:t>
            </a:r>
            <a:endParaRPr lang="en-US" sz="1400" dirty="0"/>
          </a:p>
        </p:txBody>
      </p:sp>
      <p:sp>
        <p:nvSpPr>
          <p:cNvPr id="27" name="Shape 19"/>
          <p:cNvSpPr/>
          <p:nvPr/>
        </p:nvSpPr>
        <p:spPr>
          <a:xfrm>
            <a:off x="548640" y="4233672"/>
            <a:ext cx="804672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0"/>
          <p:cNvSpPr/>
          <p:nvPr/>
        </p:nvSpPr>
        <p:spPr>
          <a:xfrm>
            <a:off x="685800" y="4288536"/>
            <a:ext cx="329184" cy="329184"/>
          </a:xfrm>
          <a:prstGeom prst="ellipse">
            <a:avLst/>
          </a:prstGeom>
          <a:solidFill>
            <a:srgbClr val="00D4A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0664" y="4325112"/>
            <a:ext cx="219456" cy="219456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188720" y="4233672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your first application on Minikube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 We’re Solving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005840"/>
            <a:ext cx="6400800" cy="50292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371600" y="10058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“We have 50 containers running... and everything is on fire.”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0" cy="2926080"/>
          </a:xfrm>
          <a:prstGeom prst="rect">
            <a:avLst/>
          </a:prstGeom>
          <a:solidFill>
            <a:srgbClr val="FFE8E8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Orchestration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container start/stop on each server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auto-restart when containers crash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scaling - guess how many to run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load balancing between instances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= SSH + pray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health monitoring or self-healing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737360"/>
            <a:ext cx="4069080" cy="2926080"/>
          </a:xfrm>
          <a:prstGeom prst="rect">
            <a:avLst/>
          </a:prstGeom>
          <a:solidFill>
            <a:srgbClr val="E8F8F0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754880" y="17830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Kubernetes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224028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Declarative: define desired state, K8s enforces it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Auto-restarts crashed containers instantly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Horizontal auto-scaling based on CPU/memory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load balancing and service discovery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updates with zero downtime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Self-healing: detects and replaces failures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Kubernetes?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731520" cy="731520"/>
          </a:xfrm>
          <a:prstGeom prst="ellipse">
            <a:avLst/>
          </a:prstGeom>
          <a:solidFill>
            <a:srgbClr val="00D4A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70432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05156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open-source container orchestration platform that automates deployment, scaling, and management of containerized applications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2103120"/>
            <a:ext cx="269748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1417320" y="2286000"/>
            <a:ext cx="640080" cy="640080"/>
          </a:xfrm>
          <a:prstGeom prst="ellipse">
            <a:avLst/>
          </a:prstGeom>
          <a:solidFill>
            <a:srgbClr val="00D4A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760" y="237744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4360" y="30175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Self-Healing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40080" y="333756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restarts failed containers, replaces unhealthy ones, kills unresponsive pods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337560" y="2103120"/>
            <a:ext cx="269748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4297680" y="2286000"/>
            <a:ext cx="640080" cy="640080"/>
          </a:xfrm>
          <a:prstGeom prst="ellipse">
            <a:avLst/>
          </a:prstGeom>
          <a:solidFill>
            <a:srgbClr val="00D4A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237744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74720" y="30175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Auto-Scaling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3520440" y="333756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pods horizontally based on CPU, memory, or custom metrics. Scales nodes via cloud ASGs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217920" y="2103120"/>
            <a:ext cx="269748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7178040" y="2286000"/>
            <a:ext cx="640080" cy="640080"/>
          </a:xfrm>
          <a:prstGeom prst="ellipse">
            <a:avLst/>
          </a:prstGeom>
          <a:solidFill>
            <a:srgbClr val="00D4A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9480" y="237744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355080" y="30175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Discovery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6400800" y="333756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DNS (CoreDNS) gives every service a stable name. No hardcoding IPs between microservices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31920" cy="3657600"/>
          </a:xfrm>
          <a:prstGeom prst="rect">
            <a:avLst/>
          </a:prstGeom>
          <a:solidFill>
            <a:srgbClr val="E8EE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41148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 (Master)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35661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7240" y="1645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Server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901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to the cluster. All communication goes through it.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350008"/>
            <a:ext cx="35661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77240" y="23957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Key-value store. Saves the entire cluster state.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099816"/>
            <a:ext cx="35661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77240" y="314553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34015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Assigns pods to worker nodes based on resources.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849624"/>
            <a:ext cx="35661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77240" y="389534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Manager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41513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 desired state matches actual state.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051560"/>
            <a:ext cx="3931920" cy="3657600"/>
          </a:xfrm>
          <a:prstGeom prst="rect">
            <a:avLst/>
          </a:prstGeom>
          <a:solidFill>
            <a:srgbClr val="E8FFF4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754880" y="1051560"/>
            <a:ext cx="3931920" cy="411480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754880" y="10515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Nodes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937760" y="1600200"/>
            <a:ext cx="35661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074920" y="1645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0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kubelet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74920" y="1901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on each node. Communicates with API Server, manages containers.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37760" y="2350008"/>
            <a:ext cx="35661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074920" y="23957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0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kube-proxy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74920" y="2651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Manages network rules. Routes traffic to the right pods.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37760" y="3099816"/>
            <a:ext cx="35661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074920" y="314553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0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Runtime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74920" y="34015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containers (containerd, CRI-O). Pulls images, starts processes.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37760" y="3849624"/>
            <a:ext cx="35661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074920" y="389534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0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74920" y="41513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workloads run here. Smallest deployable unit in K8s.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46EAD7-FD11-4876-6B93-89768EB64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CFF0625-A643-6E4A-D26D-0F89A1D0479F}"/>
              </a:ext>
            </a:extLst>
          </p:cNvPr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Architecture</a:t>
            </a:r>
            <a:endParaRPr lang="en-US" sz="36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BCC12F0-8E96-AAA8-CAE2-53C0451D72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425" y="1022292"/>
            <a:ext cx="6229195" cy="3918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477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All Works Together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05840" y="1463040"/>
            <a:ext cx="0" cy="182880"/>
          </a:xfrm>
          <a:prstGeom prst="line">
            <a:avLst/>
          </a:prstGeom>
          <a:noFill/>
          <a:ln w="254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365760" cy="365760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078992"/>
            <a:ext cx="310896" cy="3108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645920" y="1005840"/>
            <a:ext cx="68580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783080" y="10058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runs: kubectl apply -f deployment.yaml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005840" y="2103120"/>
            <a:ext cx="0" cy="182880"/>
          </a:xfrm>
          <a:prstGeom prst="line">
            <a:avLst/>
          </a:prstGeom>
          <a:noFill/>
          <a:ln w="254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40080" y="1691640"/>
            <a:ext cx="365760" cy="365760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4008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1719072"/>
            <a:ext cx="310896" cy="31089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645920" y="1645920"/>
            <a:ext cx="68580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1783080" y="16459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Server validates the request and stores desired state in etcd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1005840" y="2743200"/>
            <a:ext cx="0" cy="182880"/>
          </a:xfrm>
          <a:prstGeom prst="line">
            <a:avLst/>
          </a:prstGeom>
          <a:noFill/>
          <a:ln w="254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640080" y="2331720"/>
            <a:ext cx="365760" cy="365760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64008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2359152"/>
            <a:ext cx="310896" cy="31089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1645920" y="2286000"/>
            <a:ext cx="68580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/>
          <p:nvPr/>
        </p:nvSpPr>
        <p:spPr>
          <a:xfrm>
            <a:off x="1783080" y="22860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 finds the best worker node with available resources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1005840" y="3383280"/>
            <a:ext cx="0" cy="182880"/>
          </a:xfrm>
          <a:prstGeom prst="line">
            <a:avLst/>
          </a:prstGeom>
          <a:noFill/>
          <a:ln w="254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640080" y="2971800"/>
            <a:ext cx="365760" cy="365760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8"/>
          <p:cNvSpPr/>
          <p:nvPr/>
        </p:nvSpPr>
        <p:spPr>
          <a:xfrm>
            <a:off x="640080" y="2971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720" y="2999232"/>
            <a:ext cx="310896" cy="310896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1645920" y="2926080"/>
            <a:ext cx="68580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0"/>
          <p:cNvSpPr/>
          <p:nvPr/>
        </p:nvSpPr>
        <p:spPr>
          <a:xfrm>
            <a:off x="1783080" y="29260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kubelet on that node pulls the image and starts the container</a:t>
            </a:r>
            <a:endParaRPr lang="en-US" sz="1350" dirty="0"/>
          </a:p>
        </p:txBody>
      </p:sp>
      <p:sp>
        <p:nvSpPr>
          <p:cNvPr id="27" name="Shape 21"/>
          <p:cNvSpPr/>
          <p:nvPr/>
        </p:nvSpPr>
        <p:spPr>
          <a:xfrm>
            <a:off x="1005840" y="4023360"/>
            <a:ext cx="0" cy="182880"/>
          </a:xfrm>
          <a:prstGeom prst="line">
            <a:avLst/>
          </a:prstGeom>
          <a:noFill/>
          <a:ln w="254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2"/>
          <p:cNvSpPr/>
          <p:nvPr/>
        </p:nvSpPr>
        <p:spPr>
          <a:xfrm>
            <a:off x="640080" y="3611880"/>
            <a:ext cx="365760" cy="365760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3"/>
          <p:cNvSpPr/>
          <p:nvPr/>
        </p:nvSpPr>
        <p:spPr>
          <a:xfrm>
            <a:off x="640080" y="3611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8720" y="3639312"/>
            <a:ext cx="310896" cy="310896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1645920" y="3566160"/>
            <a:ext cx="68580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25"/>
          <p:cNvSpPr/>
          <p:nvPr/>
        </p:nvSpPr>
        <p:spPr>
          <a:xfrm>
            <a:off x="1783080" y="35661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kube-proxy sets up networking so traffic can reach the pod</a:t>
            </a:r>
            <a:endParaRPr lang="en-US" sz="1350" dirty="0"/>
          </a:p>
        </p:txBody>
      </p:sp>
      <p:sp>
        <p:nvSpPr>
          <p:cNvPr id="33" name="Shape 26"/>
          <p:cNvSpPr/>
          <p:nvPr/>
        </p:nvSpPr>
        <p:spPr>
          <a:xfrm>
            <a:off x="640080" y="4251960"/>
            <a:ext cx="365760" cy="365760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27"/>
          <p:cNvSpPr/>
          <p:nvPr/>
        </p:nvSpPr>
        <p:spPr>
          <a:xfrm>
            <a:off x="640080" y="4251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8720" y="4279392"/>
            <a:ext cx="310896" cy="310896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1645920" y="4206240"/>
            <a:ext cx="68580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Text 29"/>
          <p:cNvSpPr/>
          <p:nvPr/>
        </p:nvSpPr>
        <p:spPr>
          <a:xfrm>
            <a:off x="1783080" y="42062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Manager watches and ensures desired state is maintained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Pods: The Smallest Deployable Unit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640080" cy="640080"/>
          </a:xfrm>
          <a:prstGeom prst="ellipse">
            <a:avLst/>
          </a:prstGeom>
          <a:solidFill>
            <a:srgbClr val="00D4A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115568"/>
            <a:ext cx="420624" cy="4206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0058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Pod wraps one or more containers that share the same network namespace and storage. Containers in a pod communicate via localhost.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457200" y="192024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457200" y="1920240"/>
            <a:ext cx="3931920" cy="36576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57200" y="19202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Single-Container Pod (Most Common)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242316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main application container per pod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common pattern in production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by Deployments for scaling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nginx pod, Flask API pod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54880" y="192024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754880" y="1920240"/>
            <a:ext cx="3931920" cy="365760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4754880" y="19202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Multi-Container Pod (Sidecar Pattern)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937760" y="242316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app + supporting containers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network (localhost) and storage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Sidecar examples:</a:t>
            </a:r>
            <a:endParaRPr lang="en-US" sz="1300" dirty="0"/>
          </a:p>
          <a:p>
            <a:pPr marL="0" lvl="1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Log collector (Fluentd)</a:t>
            </a:r>
            <a:endParaRPr lang="en-US" sz="1300" dirty="0"/>
          </a:p>
          <a:p>
            <a:pPr marL="0" lvl="1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Metrics exporter (Prometheus)</a:t>
            </a:r>
            <a:endParaRPr lang="en-US" sz="1300" dirty="0"/>
          </a:p>
          <a:p>
            <a:pPr marL="0" lvl="1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Redis cache sidecar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Microservices &amp; Service Discovery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microservices architecture, services need to find and talk to each other reliably - without hardcoding IPs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463040"/>
            <a:ext cx="1828800" cy="54864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1463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03120" y="1737360"/>
            <a:ext cx="457200" cy="0"/>
          </a:xfrm>
          <a:prstGeom prst="line">
            <a:avLst/>
          </a:prstGeom>
          <a:noFill/>
          <a:ln w="25400">
            <a:solidFill>
              <a:srgbClr val="3A46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286000" y="1463040"/>
            <a:ext cx="1828800" cy="548640"/>
          </a:xfrm>
          <a:prstGeom prst="rect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286000" y="1463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0" y="1737360"/>
            <a:ext cx="457200" cy="0"/>
          </a:xfrm>
          <a:prstGeom prst="line">
            <a:avLst/>
          </a:prstGeom>
          <a:noFill/>
          <a:ln w="25400">
            <a:solidFill>
              <a:srgbClr val="3A46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297680" y="1463040"/>
            <a:ext cx="1828800" cy="548640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297680" y="1463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737360"/>
            <a:ext cx="457200" cy="0"/>
          </a:xfrm>
          <a:prstGeom prst="line">
            <a:avLst/>
          </a:prstGeom>
          <a:noFill/>
          <a:ln w="25400">
            <a:solidFill>
              <a:srgbClr val="3A46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309360" y="1463040"/>
            <a:ext cx="1828800" cy="548640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309360" y="1463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CoreDNS + Kubernetes Services = Reliable service discovery. No hardcoded IPs needed.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Microservice Examples: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3429000"/>
            <a:ext cx="1463040" cy="36576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48640" y="34290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94560" y="34290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Service  →  Cart  →  Payment  →  Notification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904488"/>
            <a:ext cx="1463040" cy="36576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48640" y="390448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94560" y="390448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Profile  →  Recommendation  →  Streaming  →  Billing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379976"/>
            <a:ext cx="1463040" cy="36576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48640" y="437997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194560" y="4379976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 →  Transaction  →  Fraud Detection  →  Notification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YAML Structure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601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96012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Kubernetes manifest follows the A-K-M-S pattern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502920" cy="64008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548640" y="155448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1188720" y="1554480"/>
            <a:ext cx="74066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371600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20040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K8s API version to use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371600" y="190195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v1, apps/v1, networking.k8s.io/v1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2331720"/>
            <a:ext cx="502920" cy="64008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48640" y="233172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1188720" y="2331720"/>
            <a:ext cx="74066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137160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20040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type of resource to create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371600" y="267919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Pod, Deployment, Service, ConfigMap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3108960"/>
            <a:ext cx="502920" cy="64008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548640" y="310896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188720" y="3108960"/>
            <a:ext cx="74066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1371600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20040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- name, labels, namespace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371600" y="345643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my-app, labels: {app: web}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3886200"/>
            <a:ext cx="502920" cy="64008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548640" y="388620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400" dirty="0"/>
          </a:p>
        </p:txBody>
      </p:sp>
      <p:sp>
        <p:nvSpPr>
          <p:cNvPr id="25" name="Shape 22"/>
          <p:cNvSpPr/>
          <p:nvPr/>
        </p:nvSpPr>
        <p:spPr>
          <a:xfrm>
            <a:off x="1188720" y="3886200"/>
            <a:ext cx="74066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137160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320040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Desired state - the actual configuration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371600" y="423367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containers, replicas, ports, volumes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Pod Manifest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329184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097280" y="1234440"/>
            <a:ext cx="6949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Pod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my-first-pod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labels: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app: hello-k8s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containers: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nginx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nginx:latest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containerPort: 80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4526280"/>
            <a:ext cx="7680960" cy="36576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4526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= apiVersion  |  K = kind  |  M = metadata  |  S = spec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kubectl Commands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114800" cy="402336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pods -A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0" y="96012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all pods across all namespaces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114800" cy="402336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describe pod &lt;name&gt;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146304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detailed info about a pod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4114800" cy="402336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94360" y="196596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-f &lt;file&gt;.yaml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96596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or update resource from YAML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4114800" cy="402336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94360" y="246888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delete -f &lt;file&gt;.yaml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46888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resource defined in YAML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4114800" cy="402336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94360" y="297180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logs &lt;pod-name&gt;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297180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container logs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4114800" cy="402336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94360" y="347472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exec -it &lt;pod&gt; -- bash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347472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interactive shell inside a pod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977640"/>
            <a:ext cx="4114800" cy="402336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94360" y="397764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nodes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397764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all cluster nodes and their status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480560"/>
            <a:ext cx="4114800" cy="402336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94360" y="448056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config get-contexts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0" y="448056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all available cluster contexts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Kubeconfig: Cluster Access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kubeconfig file (usually at ~/.kube/config) tells kubectl which cluster to talk to and how to authenticate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04672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1545336"/>
            <a:ext cx="457200" cy="457200"/>
          </a:xfrm>
          <a:prstGeom prst="ellipse">
            <a:avLst/>
          </a:prstGeom>
          <a:solidFill>
            <a:srgbClr val="00D4A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161848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71600" y="176479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Defines the K8s clusters you can connect to - server address, certificate authority.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258568"/>
            <a:ext cx="804672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731520" y="2386584"/>
            <a:ext cx="457200" cy="457200"/>
          </a:xfrm>
          <a:prstGeom prst="ellipse">
            <a:avLst/>
          </a:prstGeom>
          <a:solidFill>
            <a:srgbClr val="00D4A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245973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3042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371600" y="26060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credentials - certificates, tokens, or AWS IAM for EKS clusters.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099816"/>
            <a:ext cx="804672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731520" y="3227832"/>
            <a:ext cx="457200" cy="457200"/>
          </a:xfrm>
          <a:prstGeom prst="ellipse">
            <a:avLst/>
          </a:prstGeom>
          <a:solidFill>
            <a:srgbClr val="00D4A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" y="3300984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14553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71600" y="344728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a cluster + user + namespace into a named shortcut. Switch with kubectl config use-context.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941064"/>
            <a:ext cx="804672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00D4A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" y="4142232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39867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current-context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371600" y="4288536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context is active right now. All kubectl commands run against this context.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19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config get-contexts    |    kubectl config use-context minikube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Minikube: Your Local K8s Cluster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Minikube runs a single-node Kubernetes cluster locally for learning and development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Minikube?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- no cloud costs for learning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- starts in under a minute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K8s - same API as production clusters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- experiment without breaking anything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 - Windows, macOS, Linux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Start Commands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937760" y="1965960"/>
            <a:ext cx="2011680" cy="32004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minikube start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040880" y="19659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local cluster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37760" y="2377440"/>
            <a:ext cx="2011680" cy="32004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029200" y="2377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minikube status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40880" y="23774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cluster health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2788920"/>
            <a:ext cx="2011680" cy="32004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029200" y="2788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minikube ip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40880" y="27889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cluster IP address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3200400"/>
            <a:ext cx="2011680" cy="32004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02920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minikube dashboard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040880" y="32004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K8s web UI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37760" y="3611880"/>
            <a:ext cx="2011680" cy="32004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029200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minikube stop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040880" y="36118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cluster (preserves state)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37760" y="4023360"/>
            <a:ext cx="2011680" cy="32004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029200" y="4023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minikube delete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040880" y="40233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cluster entirely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4F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9144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Labs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Practice!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1554</TotalTime>
  <Words>1028</Words>
  <Application>Microsoft Office PowerPoint</Application>
  <PresentationFormat>On-screen Show (16:9)</PresentationFormat>
  <Paragraphs>194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Kubernetes Foundations &amp; Container Orchestration</dc:title>
  <dc:subject>PptxGenJS Presentation</dc:subject>
  <dc:creator>Aryan Mohan</dc:creator>
  <cp:lastModifiedBy>KubeCraft Technologies</cp:lastModifiedBy>
  <cp:revision>6</cp:revision>
  <dcterms:created xsi:type="dcterms:W3CDTF">2026-03-26T18:46:31Z</dcterms:created>
  <dcterms:modified xsi:type="dcterms:W3CDTF">2026-03-29T07:07:58Z</dcterms:modified>
</cp:coreProperties>
</file>