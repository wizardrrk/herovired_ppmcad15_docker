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6" r:id="rId11"/>
    <p:sldId id="267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4" d="100"/>
          <a:sy n="84" d="100"/>
        </p:scale>
        <p:origin x="78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360738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36576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AAA8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Jenkins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CI/CD Workhorse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548640" y="2560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889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Installation to Production-Grade Pipelines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94360" y="3383280"/>
            <a:ext cx="1920240" cy="502920"/>
          </a:xfrm>
          <a:prstGeom prst="rect">
            <a:avLst/>
          </a:prstGeom>
          <a:solidFill>
            <a:srgbClr val="283A5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594360" y="338328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89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Installation &amp; Setup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606040" y="3383280"/>
            <a:ext cx="1920240" cy="502920"/>
          </a:xfrm>
          <a:prstGeom prst="rect">
            <a:avLst/>
          </a:prstGeom>
          <a:solidFill>
            <a:srgbClr val="283A5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2606040" y="338328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89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Pipelines &amp; Builds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617720" y="3383280"/>
            <a:ext cx="1920240" cy="502920"/>
          </a:xfrm>
          <a:prstGeom prst="rect">
            <a:avLst/>
          </a:prstGeom>
          <a:solidFill>
            <a:srgbClr val="283A5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4617720" y="338328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89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Patterns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629400" y="3383280"/>
            <a:ext cx="1920240" cy="502920"/>
          </a:xfrm>
          <a:prstGeom prst="rect">
            <a:avLst/>
          </a:prstGeom>
          <a:solidFill>
            <a:srgbClr val="283A5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6629400" y="338328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89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Scale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8EE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83A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Jenkins - The CI/CD Workhorse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051560"/>
            <a:ext cx="2011680" cy="8229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548640" y="109728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AAA8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2.2M+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150876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89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Installations Worldwide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697480" y="1051560"/>
            <a:ext cx="2011680" cy="8229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2697480" y="109728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AAA8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1800+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2697480" y="150876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89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Plugins Available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46320" y="1051560"/>
            <a:ext cx="2011680" cy="8229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4846320" y="109728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AAA8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~20yr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4846320" y="150876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89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Battle-Tested Maturity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995160" y="1051560"/>
            <a:ext cx="2011680" cy="8229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6995160" y="109728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AAA8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 Source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6995160" y="150876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89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Self-Hosted, Full Control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48640" y="2148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83A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Core Capabilities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2606040"/>
            <a:ext cx="8229600" cy="384048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9" name="Shape 17"/>
          <p:cNvSpPr/>
          <p:nvPr/>
        </p:nvSpPr>
        <p:spPr>
          <a:xfrm>
            <a:off x="548640" y="2606040"/>
            <a:ext cx="54864" cy="384048"/>
          </a:xfrm>
          <a:prstGeom prst="rect">
            <a:avLst/>
          </a:prstGeom>
          <a:solidFill>
            <a:srgbClr val="2AAA8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>
            <a:off x="777240" y="260604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83A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Pipeline as Code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2834640" y="2606040"/>
            <a:ext cx="5760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Jenkinsfile (Groovy) version-controlled pipelines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48640" y="3044952"/>
            <a:ext cx="8229600" cy="384048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3" name="Shape 21"/>
          <p:cNvSpPr/>
          <p:nvPr/>
        </p:nvSpPr>
        <p:spPr>
          <a:xfrm>
            <a:off x="548640" y="3044952"/>
            <a:ext cx="54864" cy="384048"/>
          </a:xfrm>
          <a:prstGeom prst="rect">
            <a:avLst/>
          </a:prstGeom>
          <a:solidFill>
            <a:srgbClr val="2AAA8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/>
          <p:nvPr/>
        </p:nvSpPr>
        <p:spPr>
          <a:xfrm>
            <a:off x="777240" y="3044952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83A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Distributed Builds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2834640" y="3044952"/>
            <a:ext cx="5760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+ agents architecture, scale horizontally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48640" y="3483864"/>
            <a:ext cx="8229600" cy="384048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7" name="Shape 25"/>
          <p:cNvSpPr/>
          <p:nvPr/>
        </p:nvSpPr>
        <p:spPr>
          <a:xfrm>
            <a:off x="548640" y="3483864"/>
            <a:ext cx="54864" cy="384048"/>
          </a:xfrm>
          <a:prstGeom prst="rect">
            <a:avLst/>
          </a:prstGeom>
          <a:solidFill>
            <a:srgbClr val="2AAA8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8" name="Text 26"/>
          <p:cNvSpPr/>
          <p:nvPr/>
        </p:nvSpPr>
        <p:spPr>
          <a:xfrm>
            <a:off x="777240" y="3483864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83A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Ecosystem Integration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2834640" y="3483864"/>
            <a:ext cx="5760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Git, Docker, AWS, Slack, Jira, SonarQube and more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8640" y="3922776"/>
            <a:ext cx="8229600" cy="384048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548640" y="3922776"/>
            <a:ext cx="54864" cy="384048"/>
          </a:xfrm>
          <a:prstGeom prst="rect">
            <a:avLst/>
          </a:prstGeom>
          <a:solidFill>
            <a:srgbClr val="2AAA8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777240" y="3922776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83A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Parallel Execution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2834640" y="3922776"/>
            <a:ext cx="5760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stages in parallel, cut build times dramatically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48640" y="4361688"/>
            <a:ext cx="8229600" cy="384048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5" name="Shape 33"/>
          <p:cNvSpPr/>
          <p:nvPr/>
        </p:nvSpPr>
        <p:spPr>
          <a:xfrm>
            <a:off x="548640" y="4361688"/>
            <a:ext cx="54864" cy="384048"/>
          </a:xfrm>
          <a:prstGeom prst="rect">
            <a:avLst/>
          </a:prstGeom>
          <a:solidFill>
            <a:srgbClr val="2AAA8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6" name="Text 34"/>
          <p:cNvSpPr/>
          <p:nvPr/>
        </p:nvSpPr>
        <p:spPr>
          <a:xfrm>
            <a:off x="777240" y="436168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83A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Secret Management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2834640" y="4361688"/>
            <a:ext cx="5760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Credentials store, HashiCorp Vault integration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548640" y="4434840"/>
            <a:ext cx="8046720" cy="4572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9" name="Text 37"/>
          <p:cNvSpPr/>
          <p:nvPr/>
        </p:nvSpPr>
        <p:spPr>
          <a:xfrm>
            <a:off x="548640" y="443484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1ABC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Jenkins gives you total pipeline control. The tradeoff: YOU own the infrastructure, upgrades, and plugin management.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8EE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83A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Jenkins Architecture: Master &amp; Agents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051560"/>
            <a:ext cx="4023360" cy="33832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6" name="Shape 4"/>
          <p:cNvSpPr/>
          <p:nvPr/>
        </p:nvSpPr>
        <p:spPr>
          <a:xfrm>
            <a:off x="548640" y="1051560"/>
            <a:ext cx="4023360" cy="54864"/>
          </a:xfrm>
          <a:prstGeom prst="rect">
            <a:avLst/>
          </a:prstGeom>
          <a:solidFill>
            <a:srgbClr val="2AAA8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731520" y="11887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83A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Jenkins Master (Controller)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77240" y="16916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Hosts Jenkins Web UI (port 8080)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77240" y="203911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Stores all jobs, configs, credentials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77240" y="238658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Schedules &amp; orchestrates builds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77240" y="273405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Manages plugin lifecycle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77240" y="308152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Monitors agent health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77240" y="34290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Serves build logs &amp; history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77240" y="377647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Does NOT run build workloads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846320" y="1051560"/>
            <a:ext cx="393192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6" name="Shape 14"/>
          <p:cNvSpPr/>
          <p:nvPr/>
        </p:nvSpPr>
        <p:spPr>
          <a:xfrm>
            <a:off x="4846320" y="1051560"/>
            <a:ext cx="3931920" cy="54864"/>
          </a:xfrm>
          <a:prstGeom prst="rect">
            <a:avLst/>
          </a:prstGeom>
          <a:solidFill>
            <a:srgbClr val="2AAA8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5029200" y="11887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83A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Agent: Linux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029200" y="15544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builds · Unit tests · Trivy scans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846320" y="2194560"/>
            <a:ext cx="393192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0" name="Shape 18"/>
          <p:cNvSpPr/>
          <p:nvPr/>
        </p:nvSpPr>
        <p:spPr>
          <a:xfrm>
            <a:off x="4846320" y="2194560"/>
            <a:ext cx="3931920" cy="54864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5029200" y="23317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83A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Agent: Windows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029200" y="26974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.NET builds · MSBuild · Windows tests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846320" y="3337560"/>
            <a:ext cx="393192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4" name="Shape 22"/>
          <p:cNvSpPr/>
          <p:nvPr/>
        </p:nvSpPr>
        <p:spPr>
          <a:xfrm>
            <a:off x="4846320" y="3337560"/>
            <a:ext cx="3931920" cy="54864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5" name="Text 23"/>
          <p:cNvSpPr/>
          <p:nvPr/>
        </p:nvSpPr>
        <p:spPr>
          <a:xfrm>
            <a:off x="5029200" y="34747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83A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Agent: Docker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029200" y="38404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Ephemeral · Auto-provisioned · Lightweight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48640" y="4434840"/>
            <a:ext cx="8046720" cy="4572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8" name="Text 26"/>
          <p:cNvSpPr/>
          <p:nvPr/>
        </p:nvSpPr>
        <p:spPr>
          <a:xfrm>
            <a:off x="548640" y="443484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1ABC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Practice: Master should only orchestrate. Never run build workloads on the master node.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EE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83A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Jenkins Installation - All Platforms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097280"/>
            <a:ext cx="4023360" cy="17373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685800" y="1170432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83A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Linux (Ubuntu/Amazon Linux)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85800" y="1536192"/>
            <a:ext cx="3749040" cy="1097280"/>
          </a:xfrm>
          <a:prstGeom prst="rect">
            <a:avLst/>
          </a:prstGeom>
          <a:solidFill>
            <a:srgbClr val="2D374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777240" y="1572768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sudo apt-get install -y jenkins openjdk-17-jdk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sudo systemctl enable --now jenkins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Access: http://localhost:8080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846320" y="1097280"/>
            <a:ext cx="4023360" cy="17373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4983480" y="1170432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83A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macOS (Homebrew)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983480" y="1536192"/>
            <a:ext cx="3749040" cy="1097280"/>
          </a:xfrm>
          <a:prstGeom prst="rect">
            <a:avLst/>
          </a:prstGeom>
          <a:solidFill>
            <a:srgbClr val="2D374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5074920" y="1572768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brew install jenkins-lts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brew services start jenkins-lts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Access: http://localhost:8080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48640" y="2971800"/>
            <a:ext cx="4023360" cy="17373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685800" y="3044952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83A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Windows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85800" y="3410712"/>
            <a:ext cx="3749040" cy="1097280"/>
          </a:xfrm>
          <a:prstGeom prst="rect">
            <a:avLst/>
          </a:prstGeom>
          <a:solidFill>
            <a:srgbClr val="2D374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777240" y="3447288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Download .msi from jenkins.io/download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Install Java 17 (Adoptium/Temurin) first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 MSI -&gt; installs as Windows Service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846320" y="2971800"/>
            <a:ext cx="4023360" cy="17373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4983480" y="3044952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83A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Docker (any platform)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983480" y="3410712"/>
            <a:ext cx="3749040" cy="1097280"/>
          </a:xfrm>
          <a:prstGeom prst="rect">
            <a:avLst/>
          </a:prstGeom>
          <a:solidFill>
            <a:srgbClr val="2D374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>
            <a:off x="5074920" y="3447288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run -d -p 8080:8080 -p 50000:50000 \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-v jenkins_home:/var/jenkins_home \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--name jenkins jenkins/jenkins:lts-jdk17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8EE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83A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Must-Have Jenkins Plugins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051560"/>
            <a:ext cx="265176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6" name="Shape 4"/>
          <p:cNvSpPr/>
          <p:nvPr/>
        </p:nvSpPr>
        <p:spPr>
          <a:xfrm>
            <a:off x="548640" y="1051560"/>
            <a:ext cx="2651760" cy="54864"/>
          </a:xfrm>
          <a:prstGeom prst="rect">
            <a:avLst/>
          </a:prstGeom>
          <a:solidFill>
            <a:srgbClr val="2AAA8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685800" y="11887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83A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SCM &amp; Triggers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1554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Git Plugin - Clone repos, webhooks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GitHub Integration - PR builds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31520" y="2249424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Generic Webhook Trigger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383280" y="1051560"/>
            <a:ext cx="265176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2" name="Shape 10"/>
          <p:cNvSpPr/>
          <p:nvPr/>
        </p:nvSpPr>
        <p:spPr>
          <a:xfrm>
            <a:off x="3383280" y="1051560"/>
            <a:ext cx="2651760" cy="54864"/>
          </a:xfrm>
          <a:prstGeom prst="rect">
            <a:avLst/>
          </a:prstGeom>
          <a:solidFill>
            <a:srgbClr val="2AAA8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520440" y="11887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83A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Pipeline &amp; Jobs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566160" y="1554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Pipeline (Workflow) - Jenkinsfile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566160" y="190195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Multibranch Pipeline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566160" y="2249424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Blue Ocean - Modern visual UI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217920" y="1051560"/>
            <a:ext cx="265176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8" name="Shape 16"/>
          <p:cNvSpPr/>
          <p:nvPr/>
        </p:nvSpPr>
        <p:spPr>
          <a:xfrm>
            <a:off x="6217920" y="1051560"/>
            <a:ext cx="2651760" cy="54864"/>
          </a:xfrm>
          <a:prstGeom prst="rect">
            <a:avLst/>
          </a:prstGeom>
          <a:solidFill>
            <a:srgbClr val="2AAA8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6355080" y="11887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83A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Docker &amp; Cloud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00800" y="1554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Docker Pipeline - docker.build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400800" y="190195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Amazon ECR - Auth &amp; push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400800" y="2249424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Kubernetes Plugin - K8s agents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48640" y="3017520"/>
            <a:ext cx="265176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4" name="Shape 22"/>
          <p:cNvSpPr/>
          <p:nvPr/>
        </p:nvSpPr>
        <p:spPr>
          <a:xfrm>
            <a:off x="548640" y="3017520"/>
            <a:ext cx="2651760" cy="54864"/>
          </a:xfrm>
          <a:prstGeom prst="rect">
            <a:avLst/>
          </a:prstGeom>
          <a:solidFill>
            <a:srgbClr val="2AAA8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5" name="Text 23"/>
          <p:cNvSpPr/>
          <p:nvPr/>
        </p:nvSpPr>
        <p:spPr>
          <a:xfrm>
            <a:off x="685800" y="31546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83A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Security &amp; Secrets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31520" y="352044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Credentials Binding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31520" y="386791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Role-Based Auth Strategy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31520" y="4215384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Matrix Auth Strategy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383280" y="3017520"/>
            <a:ext cx="265176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0" name="Shape 28"/>
          <p:cNvSpPr/>
          <p:nvPr/>
        </p:nvSpPr>
        <p:spPr>
          <a:xfrm>
            <a:off x="3383280" y="3017520"/>
            <a:ext cx="2651760" cy="54864"/>
          </a:xfrm>
          <a:prstGeom prst="rect">
            <a:avLst/>
          </a:prstGeom>
          <a:solidFill>
            <a:srgbClr val="2AAA8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1" name="Text 29"/>
          <p:cNvSpPr/>
          <p:nvPr/>
        </p:nvSpPr>
        <p:spPr>
          <a:xfrm>
            <a:off x="3520440" y="31546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83A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Quality &amp; Notifs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3566160" y="352044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SonarQube Scanner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3566160" y="386791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Slack Notification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566160" y="4215384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Email Extension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217920" y="3017520"/>
            <a:ext cx="265176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6" name="Shape 34"/>
          <p:cNvSpPr/>
          <p:nvPr/>
        </p:nvSpPr>
        <p:spPr>
          <a:xfrm>
            <a:off x="6217920" y="3017520"/>
            <a:ext cx="2651760" cy="54864"/>
          </a:xfrm>
          <a:prstGeom prst="rect">
            <a:avLst/>
          </a:prstGeom>
          <a:solidFill>
            <a:srgbClr val="2AAA8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6355080" y="31546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83A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Utilities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6400800" y="352044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Build Timestamp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6400800" y="386791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Rebuild Plugin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400800" y="4215384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Job DSL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8EE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83A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Freestyle Jobs vs Pipeline Jobs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051560"/>
            <a:ext cx="4023360" cy="38176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6" name="Shape 4"/>
          <p:cNvSpPr/>
          <p:nvPr/>
        </p:nvSpPr>
        <p:spPr>
          <a:xfrm>
            <a:off x="548640" y="1051560"/>
            <a:ext cx="4023360" cy="54864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685800" y="118872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83A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Freestyle Job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846320" y="1051560"/>
            <a:ext cx="4023360" cy="38176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4846320" y="1051560"/>
            <a:ext cx="4023360" cy="54864"/>
          </a:xfrm>
          <a:prstGeom prst="rect">
            <a:avLst/>
          </a:prstGeom>
          <a:solidFill>
            <a:srgbClr val="2AAA8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4983480" y="118872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83A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Pipeline Job (Jenkinsfile)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77240" y="16916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AA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Simple GUI configuration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77240" y="203911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AA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Great for quick one-off tasks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77240" y="238658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AA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Low barrier to entry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77240" y="273405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Not version-controlled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77240" y="308152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No complex branching logic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77240" y="34290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Hard to maintain at scale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77240" y="377647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No parallel stage support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74920" y="16916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AA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Pipeline as Code (Jenkinsfile)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074920" y="202082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AA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Version-controlled with your app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074920" y="235000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AA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Full conditional &amp; loop logic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74920" y="267919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AA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Parallel stages (speed)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074920" y="300837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AA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Retry, timeout, post actions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074920" y="33375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AA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Reusable shared libraries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074920" y="366674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AA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Multibranch auto-discovery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074920" y="399592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AA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Audit trail via Git history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85800" y="4335780"/>
            <a:ext cx="3749040" cy="274320"/>
          </a:xfrm>
          <a:prstGeom prst="rect">
            <a:avLst/>
          </a:prstGeom>
          <a:solidFill>
            <a:srgbClr val="E8EEF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685800" y="433578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889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for: Getting started fast, simple jobs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983480" y="4335780"/>
            <a:ext cx="3749040" cy="274320"/>
          </a:xfrm>
          <a:prstGeom prst="rect">
            <a:avLst/>
          </a:prstGeom>
          <a:solidFill>
            <a:srgbClr val="E8F8E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9" name="Text 27"/>
          <p:cNvSpPr/>
          <p:nvPr/>
        </p:nvSpPr>
        <p:spPr>
          <a:xfrm>
            <a:off x="4983480" y="433578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i="1" dirty="0">
                <a:solidFill>
                  <a:srgbClr val="2AA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for: Everything production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8EE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83A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Declarative Pipeline - Anatomy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051560"/>
            <a:ext cx="4846320" cy="3794760"/>
          </a:xfrm>
          <a:prstGeom prst="rect">
            <a:avLst/>
          </a:prstGeom>
          <a:solidFill>
            <a:srgbClr val="2D374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685800" y="1097280"/>
            <a:ext cx="45720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8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pipeline {</a:t>
            </a:r>
            <a:endParaRPr lang="en-US" sz="780" dirty="0"/>
          </a:p>
          <a:p>
            <a:pPr marL="0" indent="0">
              <a:buNone/>
            </a:pPr>
            <a:r>
              <a:rPr lang="en-US" sz="78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agent { label 'linux' }</a:t>
            </a:r>
            <a:endParaRPr lang="en-US" sz="780" dirty="0"/>
          </a:p>
          <a:p>
            <a:pPr marL="0" indent="0">
              <a:buNone/>
            </a:pPr>
            <a:r>
              <a:rPr lang="en-US" sz="78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environment {</a:t>
            </a:r>
            <a:endParaRPr lang="en-US" sz="780" dirty="0"/>
          </a:p>
          <a:p>
            <a:pPr marL="0" indent="0">
              <a:buNone/>
            </a:pPr>
            <a:r>
              <a:rPr lang="en-US" sz="78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REPO_URI = credentials('ecr-repo-uri')</a:t>
            </a:r>
            <a:endParaRPr lang="en-US" sz="780" dirty="0"/>
          </a:p>
          <a:p>
            <a:pPr marL="0" indent="0">
              <a:buNone/>
            </a:pPr>
            <a:r>
              <a:rPr lang="en-US" sz="78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AWS_REGION = 'us-east-1'</a:t>
            </a:r>
            <a:endParaRPr lang="en-US" sz="780" dirty="0"/>
          </a:p>
          <a:p>
            <a:pPr marL="0" indent="0">
              <a:buNone/>
            </a:pPr>
            <a:r>
              <a:rPr lang="en-US" sz="78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780" dirty="0"/>
          </a:p>
          <a:p>
            <a:pPr marL="0" indent="0">
              <a:buNone/>
            </a:pPr>
            <a:r>
              <a:rPr lang="en-US" sz="78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options {</a:t>
            </a:r>
            <a:endParaRPr lang="en-US" sz="780" dirty="0"/>
          </a:p>
          <a:p>
            <a:pPr marL="0" indent="0">
              <a:buNone/>
            </a:pPr>
            <a:r>
              <a:rPr lang="en-US" sz="78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buildDiscarder(logRotator(numToKeepStr:'10'))</a:t>
            </a:r>
            <a:endParaRPr lang="en-US" sz="780" dirty="0"/>
          </a:p>
          <a:p>
            <a:pPr marL="0" indent="0">
              <a:buNone/>
            </a:pPr>
            <a:r>
              <a:rPr lang="en-US" sz="78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timeout(time: 30, unit: 'MINUTES')</a:t>
            </a:r>
            <a:endParaRPr lang="en-US" sz="780" dirty="0"/>
          </a:p>
          <a:p>
            <a:pPr marL="0" indent="0">
              <a:buNone/>
            </a:pPr>
            <a:r>
              <a:rPr lang="en-US" sz="78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780" dirty="0"/>
          </a:p>
          <a:p>
            <a:pPr marL="0" indent="0">
              <a:buNone/>
            </a:pPr>
            <a:r>
              <a:rPr lang="en-US" sz="78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stages {</a:t>
            </a:r>
            <a:endParaRPr lang="en-US" sz="780" dirty="0"/>
          </a:p>
          <a:p>
            <a:pPr marL="0" indent="0">
              <a:buNone/>
            </a:pPr>
            <a:r>
              <a:rPr lang="en-US" sz="78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stage('Checkout') { steps { checkout scm } }</a:t>
            </a:r>
            <a:endParaRPr lang="en-US" sz="780" dirty="0"/>
          </a:p>
          <a:p>
            <a:pPr marL="0" indent="0">
              <a:buNone/>
            </a:pPr>
            <a:r>
              <a:rPr lang="en-US" sz="78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stage('Build') {</a:t>
            </a:r>
            <a:endParaRPr lang="en-US" sz="780" dirty="0"/>
          </a:p>
          <a:p>
            <a:pPr marL="0" indent="0">
              <a:buNone/>
            </a:pPr>
            <a:r>
              <a:rPr lang="en-US" sz="78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steps { sh 'docker build -t myapp:$BUILD_NUMBER .' }</a:t>
            </a:r>
            <a:endParaRPr lang="en-US" sz="780" dirty="0"/>
          </a:p>
          <a:p>
            <a:pPr marL="0" indent="0">
              <a:buNone/>
            </a:pPr>
            <a:r>
              <a:rPr lang="en-US" sz="78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780" dirty="0"/>
          </a:p>
          <a:p>
            <a:pPr marL="0" indent="0">
              <a:buNone/>
            </a:pPr>
            <a:r>
              <a:rPr lang="en-US" sz="78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stage('Test') {</a:t>
            </a:r>
            <a:endParaRPr lang="en-US" sz="780" dirty="0"/>
          </a:p>
          <a:p>
            <a:pPr marL="0" indent="0">
              <a:buNone/>
            </a:pPr>
            <a:r>
              <a:rPr lang="en-US" sz="78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parallel {</a:t>
            </a:r>
            <a:endParaRPr lang="en-US" sz="780" dirty="0"/>
          </a:p>
          <a:p>
            <a:pPr marL="0" indent="0">
              <a:buNone/>
            </a:pPr>
            <a:r>
              <a:rPr lang="en-US" sz="78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stage('Unit') { steps { sh 'pytest tests/' } }</a:t>
            </a:r>
            <a:endParaRPr lang="en-US" sz="780" dirty="0"/>
          </a:p>
          <a:p>
            <a:pPr marL="0" indent="0">
              <a:buNone/>
            </a:pPr>
            <a:r>
              <a:rPr lang="en-US" sz="78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stage('Scan') { steps { sh 'trivy image ...' } }</a:t>
            </a:r>
            <a:endParaRPr lang="en-US" sz="780" dirty="0"/>
          </a:p>
          <a:p>
            <a:pPr marL="0" indent="0">
              <a:buNone/>
            </a:pPr>
            <a:r>
              <a:rPr lang="en-US" sz="78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}</a:t>
            </a:r>
            <a:endParaRPr lang="en-US" sz="780" dirty="0"/>
          </a:p>
          <a:p>
            <a:pPr marL="0" indent="0">
              <a:buNone/>
            </a:pPr>
            <a:r>
              <a:rPr lang="en-US" sz="78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780" dirty="0"/>
          </a:p>
          <a:p>
            <a:pPr marL="0" indent="0">
              <a:buNone/>
            </a:pPr>
            <a:r>
              <a:rPr lang="en-US" sz="78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stage('Deploy') {</a:t>
            </a:r>
            <a:endParaRPr lang="en-US" sz="780" dirty="0"/>
          </a:p>
          <a:p>
            <a:pPr marL="0" indent="0">
              <a:buNone/>
            </a:pPr>
            <a:r>
              <a:rPr lang="en-US" sz="78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when { branch 'main' }</a:t>
            </a:r>
            <a:endParaRPr lang="en-US" sz="780" dirty="0"/>
          </a:p>
          <a:p>
            <a:pPr marL="0" indent="0">
              <a:buNone/>
            </a:pPr>
            <a:r>
              <a:rPr lang="en-US" sz="78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steps { sh './scripts/deploy-ecs.sh' }</a:t>
            </a:r>
            <a:endParaRPr lang="en-US" sz="780" dirty="0"/>
          </a:p>
          <a:p>
            <a:pPr marL="0" indent="0">
              <a:buNone/>
            </a:pPr>
            <a:r>
              <a:rPr lang="en-US" sz="78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780" dirty="0"/>
          </a:p>
          <a:p>
            <a:pPr marL="0" indent="0">
              <a:buNone/>
            </a:pPr>
            <a:r>
              <a:rPr lang="en-US" sz="78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780" dirty="0"/>
          </a:p>
          <a:p>
            <a:pPr marL="0" indent="0">
              <a:buNone/>
            </a:pPr>
            <a:r>
              <a:rPr lang="en-US" sz="78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post {</a:t>
            </a:r>
            <a:endParaRPr lang="en-US" sz="780" dirty="0"/>
          </a:p>
          <a:p>
            <a:pPr marL="0" indent="0">
              <a:buNone/>
            </a:pPr>
            <a:r>
              <a:rPr lang="en-US" sz="78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success { slackSend color:'good', message:"..." }</a:t>
            </a:r>
            <a:endParaRPr lang="en-US" sz="780" dirty="0"/>
          </a:p>
          <a:p>
            <a:pPr marL="0" indent="0">
              <a:buNone/>
            </a:pPr>
            <a:r>
              <a:rPr lang="en-US" sz="78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failure { slackSend color:'danger', message:"..." }</a:t>
            </a:r>
            <a:endParaRPr lang="en-US" sz="780" dirty="0"/>
          </a:p>
          <a:p>
            <a:pPr marL="0" indent="0">
              <a:buNone/>
            </a:pPr>
            <a:r>
              <a:rPr lang="en-US" sz="78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780" dirty="0"/>
          </a:p>
          <a:p>
            <a:pPr marL="0" indent="0">
              <a:buNone/>
            </a:pPr>
            <a:r>
              <a:rPr lang="en-US" sz="78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780" dirty="0"/>
          </a:p>
        </p:txBody>
      </p:sp>
      <p:sp>
        <p:nvSpPr>
          <p:cNvPr id="7" name="Shape 5"/>
          <p:cNvSpPr/>
          <p:nvPr/>
        </p:nvSpPr>
        <p:spPr>
          <a:xfrm>
            <a:off x="5577840" y="1097280"/>
            <a:ext cx="3291840" cy="4572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5669280" y="1115568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AA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0" y="1316736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to run - label, docker, any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577840" y="1627632"/>
            <a:ext cx="3291840" cy="4572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5669280" y="1645920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AA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environment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669280" y="1847088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Vars available to all stages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577840" y="2157984"/>
            <a:ext cx="3291840" cy="4572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5669280" y="2176272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AA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options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669280" y="2377440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Timeout, retry, concurrency control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577840" y="2688336"/>
            <a:ext cx="3291840" cy="4572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5669280" y="2706624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AA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stages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69280" y="2907792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 build steps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577840" y="3218688"/>
            <a:ext cx="3291840" cy="4572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>
            <a:off x="5669280" y="3236976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AA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parallel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669280" y="3438144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test + scan simultaneously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577840" y="3749040"/>
            <a:ext cx="3291840" cy="4572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/>
          <p:nvPr/>
        </p:nvSpPr>
        <p:spPr>
          <a:xfrm>
            <a:off x="5669280" y="3767328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AA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when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669280" y="3968496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Conditional execution (branch filter)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577840" y="4279392"/>
            <a:ext cx="3291840" cy="4572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5669280" y="4297680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AA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669280" y="4498848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runs - success/failure hooks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8EE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321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83A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Production Pipeline: Docker -&gt; ECR -&gt; ECS</a:t>
            </a:r>
            <a:endParaRPr lang="en-US" sz="32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" y="1051560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160020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83A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Checkout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48640" y="1874520"/>
            <a:ext cx="1234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89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clone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889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 tags</a:t>
            </a:r>
            <a:endParaRPr lang="en-US" sz="900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67712" y="1051560"/>
            <a:ext cx="457200" cy="4572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965960" y="160020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83A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1965960" y="1874520"/>
            <a:ext cx="1234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89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build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889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--build-arg</a:t>
            </a:r>
            <a:endParaRPr lang="en-US" sz="900" dirty="0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85032" y="1051560"/>
            <a:ext cx="457200" cy="45720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3383280" y="160020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83A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</a:t>
            </a:r>
            <a:endParaRPr lang="en-US" sz="1200" dirty="0"/>
          </a:p>
        </p:txBody>
      </p:sp>
      <p:sp>
        <p:nvSpPr>
          <p:cNvPr id="13" name="Text 8"/>
          <p:cNvSpPr/>
          <p:nvPr/>
        </p:nvSpPr>
        <p:spPr>
          <a:xfrm>
            <a:off x="3383280" y="1874520"/>
            <a:ext cx="1234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89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889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</a:t>
            </a:r>
            <a:endParaRPr lang="en-US" sz="900" dirty="0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02352" y="1051560"/>
            <a:ext cx="457200" cy="45720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4800600" y="160020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83A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Scan</a:t>
            </a:r>
            <a:endParaRPr lang="en-US" sz="1200" dirty="0"/>
          </a:p>
        </p:txBody>
      </p:sp>
      <p:sp>
        <p:nvSpPr>
          <p:cNvPr id="16" name="Text 10"/>
          <p:cNvSpPr/>
          <p:nvPr/>
        </p:nvSpPr>
        <p:spPr>
          <a:xfrm>
            <a:off x="4800600" y="1874520"/>
            <a:ext cx="1234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89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Trivy image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889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CVE check</a:t>
            </a:r>
            <a:endParaRPr lang="en-US" sz="900" dirty="0"/>
          </a:p>
        </p:txBody>
      </p:sp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19672" y="1051560"/>
            <a:ext cx="457200" cy="457200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6217920" y="160020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83A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 ECR</a:t>
            </a:r>
            <a:endParaRPr lang="en-US" sz="1200" dirty="0"/>
          </a:p>
        </p:txBody>
      </p:sp>
      <p:sp>
        <p:nvSpPr>
          <p:cNvPr id="19" name="Text 12"/>
          <p:cNvSpPr/>
          <p:nvPr/>
        </p:nvSpPr>
        <p:spPr>
          <a:xfrm>
            <a:off x="6217920" y="1874520"/>
            <a:ext cx="1234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89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 + push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889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ECR repo</a:t>
            </a:r>
            <a:endParaRPr lang="en-US" sz="900" dirty="0"/>
          </a:p>
        </p:txBody>
      </p:sp>
      <p:pic>
        <p:nvPicPr>
          <p:cNvPr id="2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36992" y="1051560"/>
            <a:ext cx="457200" cy="457200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7635240" y="160020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83A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Deploy</a:t>
            </a:r>
            <a:endParaRPr lang="en-US" sz="1200" dirty="0"/>
          </a:p>
        </p:txBody>
      </p:sp>
      <p:sp>
        <p:nvSpPr>
          <p:cNvPr id="22" name="Text 14"/>
          <p:cNvSpPr/>
          <p:nvPr/>
        </p:nvSpPr>
        <p:spPr>
          <a:xfrm>
            <a:off x="7635240" y="1874520"/>
            <a:ext cx="1234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89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ecs register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889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update svc</a:t>
            </a:r>
            <a:endParaRPr lang="en-US" sz="900" dirty="0"/>
          </a:p>
        </p:txBody>
      </p:sp>
      <p:sp>
        <p:nvSpPr>
          <p:cNvPr id="23" name="Text 15"/>
          <p:cNvSpPr/>
          <p:nvPr/>
        </p:nvSpPr>
        <p:spPr>
          <a:xfrm>
            <a:off x="548640" y="2423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83A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Pipeline Scripts</a:t>
            </a:r>
            <a:endParaRPr lang="en-US" sz="1500" dirty="0"/>
          </a:p>
        </p:txBody>
      </p:sp>
      <p:sp>
        <p:nvSpPr>
          <p:cNvPr id="24" name="Shape 16"/>
          <p:cNvSpPr/>
          <p:nvPr/>
        </p:nvSpPr>
        <p:spPr>
          <a:xfrm>
            <a:off x="548640" y="2788920"/>
            <a:ext cx="2743200" cy="20574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5" name="Text 17"/>
          <p:cNvSpPr/>
          <p:nvPr/>
        </p:nvSpPr>
        <p:spPr>
          <a:xfrm>
            <a:off x="640080" y="28346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83A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ECR Authentication</a:t>
            </a:r>
            <a:endParaRPr lang="en-US" sz="1100" dirty="0"/>
          </a:p>
        </p:txBody>
      </p:sp>
      <p:sp>
        <p:nvSpPr>
          <p:cNvPr id="26" name="Shape 18"/>
          <p:cNvSpPr/>
          <p:nvPr/>
        </p:nvSpPr>
        <p:spPr>
          <a:xfrm>
            <a:off x="640080" y="3154680"/>
            <a:ext cx="2560320" cy="1554480"/>
          </a:xfrm>
          <a:prstGeom prst="rect">
            <a:avLst/>
          </a:prstGeom>
          <a:solidFill>
            <a:srgbClr val="2D374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19"/>
          <p:cNvSpPr/>
          <p:nvPr/>
        </p:nvSpPr>
        <p:spPr>
          <a:xfrm>
            <a:off x="731520" y="320040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aws ecr get-login-password \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--region $AWS_REGION \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| docker login --username AWS \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--password-stdin $ACCOUNT_ID.dkr...</a:t>
            </a:r>
            <a:endParaRPr lang="en-US" sz="800" dirty="0"/>
          </a:p>
        </p:txBody>
      </p:sp>
      <p:sp>
        <p:nvSpPr>
          <p:cNvPr id="28" name="Shape 20"/>
          <p:cNvSpPr/>
          <p:nvPr/>
        </p:nvSpPr>
        <p:spPr>
          <a:xfrm>
            <a:off x="3429000" y="2788920"/>
            <a:ext cx="2743200" cy="20574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9" name="Text 21"/>
          <p:cNvSpPr/>
          <p:nvPr/>
        </p:nvSpPr>
        <p:spPr>
          <a:xfrm>
            <a:off x="3520440" y="28346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83A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Image Build &amp; Tag</a:t>
            </a:r>
            <a:endParaRPr lang="en-US" sz="1100" dirty="0"/>
          </a:p>
        </p:txBody>
      </p:sp>
      <p:sp>
        <p:nvSpPr>
          <p:cNvPr id="30" name="Shape 22"/>
          <p:cNvSpPr/>
          <p:nvPr/>
        </p:nvSpPr>
        <p:spPr>
          <a:xfrm>
            <a:off x="3520440" y="3154680"/>
            <a:ext cx="2560320" cy="1554480"/>
          </a:xfrm>
          <a:prstGeom prst="rect">
            <a:avLst/>
          </a:prstGeom>
          <a:solidFill>
            <a:srgbClr val="2D374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1" name="Text 23"/>
          <p:cNvSpPr/>
          <p:nvPr/>
        </p:nvSpPr>
        <p:spPr>
          <a:xfrm>
            <a:off x="3611880" y="320040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build -t $REPO:$BUILD_NUMBER .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tag $REPO:$BUILD_NUMBER \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$REPO_URI:$BUILD_NUMBER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tag ... $REPO_URI:latest</a:t>
            </a:r>
            <a:endParaRPr lang="en-US" sz="800" dirty="0"/>
          </a:p>
        </p:txBody>
      </p:sp>
      <p:sp>
        <p:nvSpPr>
          <p:cNvPr id="32" name="Shape 24"/>
          <p:cNvSpPr/>
          <p:nvPr/>
        </p:nvSpPr>
        <p:spPr>
          <a:xfrm>
            <a:off x="6309360" y="2788920"/>
            <a:ext cx="2743200" cy="20574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3" name="Text 25"/>
          <p:cNvSpPr/>
          <p:nvPr/>
        </p:nvSpPr>
        <p:spPr>
          <a:xfrm>
            <a:off x="6400800" y="28346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83A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ECS Deploy</a:t>
            </a:r>
            <a:endParaRPr lang="en-US" sz="1100" dirty="0"/>
          </a:p>
        </p:txBody>
      </p:sp>
      <p:sp>
        <p:nvSpPr>
          <p:cNvPr id="34" name="Shape 26"/>
          <p:cNvSpPr/>
          <p:nvPr/>
        </p:nvSpPr>
        <p:spPr>
          <a:xfrm>
            <a:off x="6400800" y="3154680"/>
            <a:ext cx="2560320" cy="1554480"/>
          </a:xfrm>
          <a:prstGeom prst="rect">
            <a:avLst/>
          </a:prstGeom>
          <a:solidFill>
            <a:srgbClr val="2D374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5" name="Text 27"/>
          <p:cNvSpPr/>
          <p:nvPr/>
        </p:nvSpPr>
        <p:spPr>
          <a:xfrm>
            <a:off x="6492240" y="320040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aws ecs register-task-definition \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--cli-input-json ...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aws ecs update-service \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--cluster prod --service myapp\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--force-new-deployment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8EE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83A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Jenkins Shared Libraries - DRY Pipelines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005840"/>
            <a:ext cx="8046720" cy="365760"/>
          </a:xfrm>
          <a:prstGeom prst="rect">
            <a:avLst/>
          </a:prstGeom>
          <a:solidFill>
            <a:srgbClr val="FDE8E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731520" y="100584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Problem: 50 Jenkinsfiles, all doing the same ECR push logic. One change = 50 PRs.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554480"/>
            <a:ext cx="402336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685800" y="1600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83A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jenkins-shared-lib/ (Git Repo)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85800" y="1920240"/>
            <a:ext cx="3749040" cy="1143000"/>
          </a:xfrm>
          <a:prstGeom prst="rect">
            <a:avLst/>
          </a:prstGeom>
          <a:solidFill>
            <a:srgbClr val="2D374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777240" y="1965960"/>
            <a:ext cx="3474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vars/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buildDockerImage.groovy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pushToEcr.groovy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deployToEcs.groovy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└── runTrivyScan.groovy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src/com/company/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 resources/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4754880" y="1554480"/>
            <a:ext cx="402336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4892040" y="1600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83A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vars/pushToEcr.groovy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892040" y="1920240"/>
            <a:ext cx="3749040" cy="1143000"/>
          </a:xfrm>
          <a:prstGeom prst="rect">
            <a:avLst/>
          </a:prstGeom>
          <a:solidFill>
            <a:srgbClr val="2D374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4983480" y="1965960"/>
            <a:ext cx="3474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call(String imageName, String tag) {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withAWS(region: 'us-east-1',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credentials: 'aws-creds') {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sh "aws ecr get-login-password..."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sh "docker tag ..."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sh "docker push ..."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548640" y="3383280"/>
            <a:ext cx="822960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685800" y="3429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83A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Jenkinsfile (consumer)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85800" y="3749040"/>
            <a:ext cx="5029200" cy="1120140"/>
          </a:xfrm>
          <a:prstGeom prst="rect">
            <a:avLst/>
          </a:prstGeom>
          <a:solidFill>
            <a:srgbClr val="2D374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777240" y="3805428"/>
            <a:ext cx="484632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@Library('jenkins-shared-lib@main’) _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pipeline {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agent any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stages {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stage('Push') { steps { pushToEcr('myapp', env.BUILD_NUMBER) } }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stage('Deploy') { steps { deployToEcs('myapp-service') } }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5943600" y="3749040"/>
            <a:ext cx="2560320" cy="685800"/>
          </a:xfrm>
          <a:prstGeom prst="rect">
            <a:avLst/>
          </a:prstGeom>
          <a:solidFill>
            <a:srgbClr val="E8F8E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>
            <a:off x="6035040" y="374904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AA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50 Jenkinsfiles simplified to ~10 lines each. Fix ECR auth once → all pipelines updated.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8EE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83A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Jenkins Security - Don't Skip This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005840"/>
            <a:ext cx="8046720" cy="365760"/>
          </a:xfrm>
          <a:prstGeom prst="rect">
            <a:avLst/>
          </a:prstGeom>
          <a:solidFill>
            <a:srgbClr val="FDE8E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731520" y="100584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Jenkins master exposed to internet with default admin/admin = instant pwned. These steps are non-negotiable.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1554480"/>
            <a:ext cx="4023360" cy="15544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548640" y="1554480"/>
            <a:ext cx="54864" cy="1554480"/>
          </a:xfrm>
          <a:prstGeom prst="rect">
            <a:avLst/>
          </a:prstGeom>
          <a:solidFill>
            <a:srgbClr val="2AAA8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731520" y="16276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83A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Authentication &amp; Access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22960" y="196596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Disable 'Allow users to sign up'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22960" y="224028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Enable RBAC auth strategy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22960" y="251460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Create per-team service accounts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22960" y="278892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Enable auditing plugin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846320" y="1554480"/>
            <a:ext cx="4023360" cy="15544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5" name="Shape 13"/>
          <p:cNvSpPr/>
          <p:nvPr/>
        </p:nvSpPr>
        <p:spPr>
          <a:xfrm>
            <a:off x="4846320" y="1554480"/>
            <a:ext cx="54864" cy="1554480"/>
          </a:xfrm>
          <a:prstGeom prst="rect">
            <a:avLst/>
          </a:prstGeom>
          <a:solidFill>
            <a:srgbClr val="2AAA8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5029200" y="16276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83A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Network Security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120640" y="196596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Never expose 8080 directly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120640" y="224028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Put behind NGINX/ALB + HTTPS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120640" y="251460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Firewall: known CIDRs only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120640" y="278892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Run master in private subnet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48640" y="3246120"/>
            <a:ext cx="4023360" cy="15544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2" name="Shape 20"/>
          <p:cNvSpPr/>
          <p:nvPr/>
        </p:nvSpPr>
        <p:spPr>
          <a:xfrm>
            <a:off x="548640" y="3246120"/>
            <a:ext cx="54864" cy="1554480"/>
          </a:xfrm>
          <a:prstGeom prst="rect">
            <a:avLst/>
          </a:prstGeom>
          <a:solidFill>
            <a:srgbClr val="2AAA8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/>
          <p:nvPr/>
        </p:nvSpPr>
        <p:spPr>
          <a:xfrm>
            <a:off x="731520" y="33192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83A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Secrets &amp; Credentials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22960" y="365760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Use Credentials Store - never hardcode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822960" y="393192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Rotate credentials regularly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822960" y="420624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Integrate HashiCorp Vault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822960" y="448056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Use OIDC/IAM roles for AWS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846320" y="3246120"/>
            <a:ext cx="4023360" cy="15544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9" name="Shape 27"/>
          <p:cNvSpPr/>
          <p:nvPr/>
        </p:nvSpPr>
        <p:spPr>
          <a:xfrm>
            <a:off x="4846320" y="3246120"/>
            <a:ext cx="54864" cy="1554480"/>
          </a:xfrm>
          <a:prstGeom prst="rect">
            <a:avLst/>
          </a:prstGeom>
          <a:solidFill>
            <a:srgbClr val="2AAA8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0" name="Text 28"/>
          <p:cNvSpPr/>
          <p:nvPr/>
        </p:nvSpPr>
        <p:spPr>
          <a:xfrm>
            <a:off x="5029200" y="33192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83A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Plugin &amp; Update Hygiene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120640" y="365760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Subscribe to security advisories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120640" y="393192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Update plugins weekly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5120640" y="420624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Audit plugins quarterly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5120640" y="448056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Remove unused plugins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Jenkins Mastery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0116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2AA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You're now equipped to build production-grade Jenkins pipelines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286000" y="2743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Jenkins Master + multi-agent architecture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286000" y="31089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Declarative Pipelines (Jenkinsfile)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2286000" y="34747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Docker -&gt; ECR -&gt; ECS production CI/CD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286000" y="3840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Shared Libraries for DRY pipelines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286000" y="42291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Security, RBAC &amp; credential management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1300</Words>
  <Application>Microsoft Office PowerPoint</Application>
  <PresentationFormat>On-screen Show (16:9)</PresentationFormat>
  <Paragraphs>257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Calibri</vt:lpstr>
      <vt:lpstr>Consolas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Jenkins — CI/CD Workhorse</dc:title>
  <dc:subject>PptxGenJS Presentation</dc:subject>
  <dc:creator>CI/CD Engineering</dc:creator>
  <cp:lastModifiedBy>KubeCraft Technologies</cp:lastModifiedBy>
  <cp:revision>4</cp:revision>
  <dcterms:created xsi:type="dcterms:W3CDTF">2026-02-28T02:08:59Z</dcterms:created>
  <dcterms:modified xsi:type="dcterms:W3CDTF">2026-02-28T03:20:12Z</dcterms:modified>
</cp:coreProperties>
</file>