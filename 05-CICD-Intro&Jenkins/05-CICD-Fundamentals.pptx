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8" r:id="rId4"/>
    <p:sldId id="259" r:id="rId5"/>
    <p:sldId id="260" r:id="rId6"/>
    <p:sldId id="263" r:id="rId7"/>
    <p:sldId id="264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A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36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A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Fundamentals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Continuous Integration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Continuous Delivery / Deployments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48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Builds to Automated Production Pipelines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1064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Concepts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3624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CI, CD, and Continuous Deployment?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1764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 After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02082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Life before and after CI/CD adoption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368296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2368296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2423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Anatomy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26791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 -&gt; Build -&gt; Test -&gt; Publish -&gt; Deploy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026664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3026664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3081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DORA Metrics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33375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benchmarks for elite teams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8640" y="3685032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37398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Tools Landscape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39959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Jenkins, GitHub Actions, GitLab CI &amp; more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4400" y="43982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" y="46542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steps with Jenkins installation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CI/CD? The Big Picture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283A5E"/>
                </a:solidFill>
                <a:latin typeface="Trebuchet MS" pitchFamily="34" charset="0"/>
              </a:rPr>
              <a:t>Build once – Deploy Often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6517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152144"/>
            <a:ext cx="2651760" cy="31729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 commit triggers automation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build &amp; compile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Unit + integration tests run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 quality &amp; lint checks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Short-lived feature branches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383280" y="1152144"/>
            <a:ext cx="2651760" cy="31729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52044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Artifact always release-ready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 to staging automatically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616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Acceptance tests run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approval gate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Reliable &amp; repeatable releases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217920" y="1152144"/>
            <a:ext cx="2651760" cy="31729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5508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automated - zero manual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passing build -&gt; prod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Requires mature test coverage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Requires feature flags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Minutes from commit to prod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= human approves prod deploy.  Deployment = fully automated, no human in the loop.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 Before vs After CI/CD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CI/CD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A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CI/CD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builds – ‘works on my machine’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0020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0" y="15544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builds on every commit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1938528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85800" y="1938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Integration hell - months of merging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1938528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842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9385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merges, issues caught early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2322576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85800" y="2322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Releases every 3-6 months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846320" y="2322576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36829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3520" y="23225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multiple times per day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2706624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685800" y="27066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Deployment scripts per engineer = chaos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846320" y="2706624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75234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27066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pipeline, reproducible every time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3090672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68580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Zero test automation - manual QA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846320" y="3090672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13639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03520" y="30906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as first-class citizens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48640" y="3474720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6"/>
          <p:cNvSpPr/>
          <p:nvPr/>
        </p:nvSpPr>
        <p:spPr>
          <a:xfrm>
            <a:off x="68580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Night/weekend deployments (fear)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846320" y="3474720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520440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303520" y="3474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anytime with confidence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548640" y="3858768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/>
          <p:nvPr/>
        </p:nvSpPr>
        <p:spPr>
          <a:xfrm>
            <a:off x="685800" y="3858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Weeks to find who broke production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4846320" y="3858768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904488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303520" y="38587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 loop to committer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548640" y="4242816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/>
          <p:nvPr/>
        </p:nvSpPr>
        <p:spPr>
          <a:xfrm>
            <a:off x="685800" y="4242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Rollback = nightmare, hours of downtime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4846320" y="4242816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288536"/>
            <a:ext cx="256032" cy="25603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303520" y="42428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rollback in minutes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 Anatomy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/ PR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73736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73736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Docker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92608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registry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30352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30352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49224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9224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8096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68096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68096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8096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deploy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Golden Rule: Fast Feedback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152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Fail fast - surface issues in &lt; 5 minutes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3017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Tests must be deterministic (no flaky tests)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" y="3337560"/>
            <a:ext cx="312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Never commit to a broken main branch // follow proper git branching strategy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failure notifies the committer immediately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Benchmarks (DORA)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846320" y="2697480"/>
            <a:ext cx="402336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0292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Elite teams deploy multiple time per day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136392"/>
            <a:ext cx="402336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02920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Lead time &lt; 1 hour (commit to prod)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575304"/>
            <a:ext cx="402336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029200" y="35753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MTTR &lt; 1 hour when things break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46320" y="4014216"/>
            <a:ext cx="402336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029200" y="40142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Change failure rate &lt; 5%</a:t>
            </a:r>
            <a:endParaRPr lang="en-US" sz="11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B39E95A-4D54-F673-F481-A350DDF46E3B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1600200" y="155448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E737604-3340-A8F6-2F2F-52BB5EEC0CEA}"/>
              </a:ext>
            </a:extLst>
          </p:cNvPr>
          <p:cNvCxnSpPr/>
          <p:nvPr/>
        </p:nvCxnSpPr>
        <p:spPr>
          <a:xfrm>
            <a:off x="2788920" y="156972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6678A08-CBE6-1252-441B-1394D618B1B5}"/>
              </a:ext>
            </a:extLst>
          </p:cNvPr>
          <p:cNvCxnSpPr/>
          <p:nvPr/>
        </p:nvCxnSpPr>
        <p:spPr>
          <a:xfrm>
            <a:off x="3977640" y="157734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05452E6-1BC6-EDEC-DCDF-AAC8FFDAB616}"/>
              </a:ext>
            </a:extLst>
          </p:cNvPr>
          <p:cNvCxnSpPr/>
          <p:nvPr/>
        </p:nvCxnSpPr>
        <p:spPr>
          <a:xfrm>
            <a:off x="5173980" y="158496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3F3B6A4-843B-1042-BE97-A7A003542699}"/>
              </a:ext>
            </a:extLst>
          </p:cNvPr>
          <p:cNvCxnSpPr/>
          <p:nvPr/>
        </p:nvCxnSpPr>
        <p:spPr>
          <a:xfrm>
            <a:off x="6362700" y="157734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76BCB01-B243-DB15-2819-8468A5E0EFAC}"/>
              </a:ext>
            </a:extLst>
          </p:cNvPr>
          <p:cNvCxnSpPr/>
          <p:nvPr/>
        </p:nvCxnSpPr>
        <p:spPr>
          <a:xfrm>
            <a:off x="7559040" y="157734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Tools — The Market Landscape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40233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1234440" cy="256032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0" y="11430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 COVER THIS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Workhorse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self-hosted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1284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194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2.2M+ installations worldwide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0545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487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1800+ plugins, 20yr maturity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98064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 Code (Groovy)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846320" y="105156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4846320" y="1051560"/>
            <a:ext cx="40233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7498080" y="1143000"/>
            <a:ext cx="1234440" cy="2560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7498080" y="11430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 COVER THIS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0292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02920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&amp; Modern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20240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03520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GitHub - zero setup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12848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03520" y="2194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YAML-based workflows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505456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03520" y="2487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of reusable actions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98064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303520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OIDC auth, matrix builds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33756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4"/>
          <p:cNvSpPr/>
          <p:nvPr/>
        </p:nvSpPr>
        <p:spPr>
          <a:xfrm>
            <a:off x="548640" y="3337560"/>
            <a:ext cx="54864" cy="1508760"/>
          </a:xfrm>
          <a:prstGeom prst="rect">
            <a:avLst/>
          </a:prstGeom>
          <a:solidFill>
            <a:srgbClr val="E243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5"/>
          <p:cNvSpPr/>
          <p:nvPr/>
        </p:nvSpPr>
        <p:spPr>
          <a:xfrm>
            <a:off x="731520" y="3401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GitLab CI/CD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731520" y="373075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GitLab. Single platform for code, CI/CD, &amp; DevOps. Auto DevOps feature.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2697480" y="333756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28"/>
          <p:cNvSpPr/>
          <p:nvPr/>
        </p:nvSpPr>
        <p:spPr>
          <a:xfrm>
            <a:off x="2697480" y="3337560"/>
            <a:ext cx="54864" cy="1508760"/>
          </a:xfrm>
          <a:prstGeom prst="rect">
            <a:avLst/>
          </a:prstGeom>
          <a:solidFill>
            <a:srgbClr val="3434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29"/>
          <p:cNvSpPr/>
          <p:nvPr/>
        </p:nvSpPr>
        <p:spPr>
          <a:xfrm>
            <a:off x="2880360" y="3401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CircleCI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2880360" y="373075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CI/CD. Fast builds with Docker layer caching. Config as code (YAML).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4846320" y="333756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2"/>
          <p:cNvSpPr/>
          <p:nvPr/>
        </p:nvSpPr>
        <p:spPr>
          <a:xfrm>
            <a:off x="4846320" y="3337560"/>
            <a:ext cx="54864" cy="1508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3"/>
          <p:cNvSpPr/>
          <p:nvPr/>
        </p:nvSpPr>
        <p:spPr>
          <a:xfrm>
            <a:off x="5029200" y="3401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DevOps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5029200" y="373075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full ALM suite. Azure Pipelines with YAML. Deep Azure integration.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6995160" y="333756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36"/>
          <p:cNvSpPr/>
          <p:nvPr/>
        </p:nvSpPr>
        <p:spPr>
          <a:xfrm>
            <a:off x="6995160" y="3337560"/>
            <a:ext cx="54864" cy="150876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37"/>
          <p:cNvSpPr/>
          <p:nvPr/>
        </p:nvSpPr>
        <p:spPr>
          <a:xfrm>
            <a:off x="7178040" y="3401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CodePipeline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38"/>
          <p:cNvSpPr/>
          <p:nvPr/>
        </p:nvSpPr>
        <p:spPr>
          <a:xfrm>
            <a:off x="7178040" y="373075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AWS CI/CD. Native integration with CodeBuild, ECR, ECS, Lambda.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85607F-621E-C43A-28B2-A0F2FF560FBE}"/>
              </a:ext>
            </a:extLst>
          </p:cNvPr>
          <p:cNvSpPr txBox="1"/>
          <p:nvPr/>
        </p:nvSpPr>
        <p:spPr>
          <a:xfrm>
            <a:off x="7559040" y="4835836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And many more..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 Getting Started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7160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Now that you understand CI/CD theory, it's time to get your hands dirty.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7680960" cy="22936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Next: Jenkins Installation &amp; Setup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Install Jenkins on your platform (Linux, macOS, Windows, or Docker)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Unlock Jenkins with the initial admin password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3337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Install suggested plugins - Pipeline, Git, Docker, Blue Ocean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3657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Create your admin user and configure the Jenkins URL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CI/CD Fundamentals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the foundation of modern software delivery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 = Automated build &amp; test on every commit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CD = Automated delivery to staging + manual approval for prod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Continuous Deployment = Fully automated to production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DORA metrics = Industry standard for measuring excellence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feedback loops are the golden rule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10014</TotalTime>
  <Words>713</Words>
  <Application>Microsoft Office PowerPoint</Application>
  <PresentationFormat>On-screen Show (16:9)</PresentationFormat>
  <Paragraphs>131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Fundamentals</dc:title>
  <dc:subject>PptxGenJS Presentation</dc:subject>
  <dc:creator>CI/CD Engineering</dc:creator>
  <cp:lastModifiedBy>KubeCraft Technologies</cp:lastModifiedBy>
  <cp:revision>12</cp:revision>
  <dcterms:created xsi:type="dcterms:W3CDTF">2026-02-28T02:08:59Z</dcterms:created>
  <dcterms:modified xsi:type="dcterms:W3CDTF">2026-03-07T05:38:14Z</dcterms:modified>
</cp:coreProperties>
</file>